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00" r:id="rId1"/>
  </p:sldMasterIdLst>
  <p:notesMasterIdLst>
    <p:notesMasterId r:id="rId2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7"/>
    <p:sldId id="276" r:id="rId6"/>
    <p:sldId id="277" r:id="rId5"/>
    <p:sldId id="278" r:id="rId4"/>
    <p:sldId id="279" r:id="rId3"/>
    <p:sldId id="280" r:id="rId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7EE31-E0CF-4EB3-9D7D-F207F762E5C7}" v="30" dt="2026-06-12T08:16:58.058"/>
    <p1510:client id="{42DA7F69-D053-01C2-8781-963B1DA6D109}" v="12" dt="2026-06-13T15:17:52.763"/>
    <p1510:client id="{5FB25DDC-5B19-5F86-804E-039AF2F06D23}" v="2" dt="2026-06-13T14:15:54.812"/>
    <p1510:client id="{43B54F4F-E0F1-DAC5-915A-5316C8AF1BE2}" v="7" dt="2026-06-13T14:14:21.333"/>
    <p1510:client id="{57EEC680-464C-68C1-892E-63BF331ED250}" v="141" dt="2026-06-12T08:18:47.131"/>
    <p1510:client id="{AB403A2B-0B05-A7A0-9591-64D0DFFCC262}" v="2" dt="2026-06-13T14:15:04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88" autoAdjust="0"/>
  </p:normalViewPr>
  <p:slideViewPr>
    <p:cSldViewPr snapToGrid="0">
      <p:cViewPr varScale="1">
        <p:scale>
          <a:sx n="70" d="100"/>
          <a:sy n="70" d="100"/>
        </p:scale>
        <p:origin x="4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5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2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全部重算</c:v>
                </c:pt>
              </c:strCache>
            </c:strRef>
          </c:tx>
          <c:spPr>
            <a:solidFill>
              <a:srgbClr val="5F6F78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2.8</c:v>
                </c:pt>
                <c:pt idx="1">
                  <c:v>2.6</c:v>
                </c:pt>
                <c:pt idx="2">
                  <c:v>3.1</c:v>
                </c:pt>
                <c:pt idx="3">
                  <c:v>2.9</c:v>
                </c:pt>
                <c:pt idx="4">
                  <c:v>3.1</c:v>
                </c:pt>
                <c:pt idx="5">
                  <c:v>3.3</c:v>
                </c:pt>
                <c:pt idx="6">
                  <c:v>3.4</c:v>
                </c:pt>
                <c:pt idx="7">
                  <c:v>3.6</c:v>
                </c:pt>
                <c:pt idx="8">
                  <c:v>3.7</c:v>
                </c:pt>
                <c:pt idx="9">
                  <c:v>3.9</c:v>
                </c:pt>
                <c:pt idx="10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只更新附近</c:v>
                </c:pt>
              </c:strCache>
            </c:strRef>
          </c:tx>
          <c:spPr>
            <a:solidFill>
              <a:srgbClr val="C2571A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0.0567</c:v>
                </c:pt>
                <c:pt idx="1">
                  <c:v>0.0843</c:v>
                </c:pt>
                <c:pt idx="2">
                  <c:v>0.0419</c:v>
                </c:pt>
                <c:pt idx="3">
                  <c:v>0.062299999999999994</c:v>
                </c:pt>
                <c:pt idx="4">
                  <c:v>0.0517</c:v>
                </c:pt>
                <c:pt idx="5">
                  <c:v>0.039</c:v>
                </c:pt>
                <c:pt idx="6">
                  <c:v>0.0183</c:v>
                </c:pt>
                <c:pt idx="7">
                  <c:v>0.0423</c:v>
                </c:pt>
                <c:pt idx="8">
                  <c:v>0.0915</c:v>
                </c:pt>
                <c:pt idx="9">
                  <c:v>0.0218</c:v>
                </c:pt>
                <c:pt idx="10">
                  <c:v>0.0197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7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B8C7CC"/>
              </a:solidFill>
            </a:ln>
          </c:spPr>
        </c:majorGridlines>
        <c:numFmt formatCode="0&quot; 秒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800"/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600">
          <a:solidFill>
            <a:srgbClr val="262626"/>
          </a:solidFill>
          <a:latin typeface="Times New Roman"/>
          <a:ea typeface="標楷體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AI（看鄰居＋看自己）</c:v>
                </c:pt>
              </c:strCache>
            </c:strRef>
          </c:tx>
          <c:spPr>
            <a:solidFill>
              <a:srgbClr val="C2571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5 分鐘後</c:v>
                </c:pt>
                <c:pt idx="1">
                  <c:v>15 分鐘後</c:v>
                </c:pt>
                <c:pt idx="2">
                  <c:v>30 分鐘後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2.11</c:v>
                </c:pt>
                <c:pt idx="1">
                  <c:v>2.62</c:v>
                </c:pt>
                <c:pt idx="2">
                  <c:v>3.13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只看自己</c:v>
                </c:pt>
              </c:strCache>
            </c:strRef>
          </c:tx>
          <c:spPr>
            <a:solidFill>
              <a:srgbClr val="2E536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5 分鐘後</c:v>
                </c:pt>
                <c:pt idx="1">
                  <c:v>15 分鐘後</c:v>
                </c:pt>
                <c:pt idx="2">
                  <c:v>30 分鐘後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</c:v>
                </c:pt>
                <c:pt idx="1">
                  <c:v>2.68</c:v>
                </c:pt>
                <c:pt idx="2">
                  <c:v>3.23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沿用現在車速</c:v>
                </c:pt>
              </c:strCache>
            </c:strRef>
          </c:tx>
          <c:spPr>
            <a:solidFill>
              <a:srgbClr val="5F6F7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5 分鐘後</c:v>
                </c:pt>
                <c:pt idx="1">
                  <c:v>15 分鐘後</c:v>
                </c:pt>
                <c:pt idx="2">
                  <c:v>30 分鐘後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2.7</c:v>
                </c:pt>
                <c:pt idx="1">
                  <c:v>3.23</c:v>
                </c:pt>
                <c:pt idx="2">
                  <c:v>3.82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歷史平均</c:v>
                </c:pt>
              </c:strCache>
            </c:strRef>
          </c:tx>
          <c:spPr>
            <a:solidFill>
              <a:srgbClr val="B8C7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5 分鐘後</c:v>
                </c:pt>
                <c:pt idx="1">
                  <c:v>15 分鐘後</c:v>
                </c:pt>
                <c:pt idx="2">
                  <c:v>30 分鐘後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4.0</c:v>
                </c:pt>
                <c:pt idx="1">
                  <c:v>4.0</c:v>
                </c:pt>
                <c:pt idx="2">
                  <c:v>4.0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7CC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B8C7CC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/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400">
          <a:solidFill>
            <a:srgbClr val="262626"/>
          </a:solidFill>
          <a:latin typeface="Times New Roman"/>
          <a:ea typeface="標楷體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CF801-5EB4-48D1-B98D-D45417A62610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B9390-370E-4E88-8960-53A97F6235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063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「只把事件當成本加上去」是我們的第一版。對應數字：台北市區最遠約 1.2 公里、蘇花公路約 6.1 公里；更新 4.3 秒 → 約 20 毫秒；找路快約 13.5 倍；預測 5～30 分鐘後車速，誤差 2.11～3.13 km/h。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平衡模式、平日上午 10 點的時段速度：車禍前 162.74 公里、113.2 分鐘；車禍後 173.79 公里、117.7 分鐘。不同時段數字會不同（尖峰會降速）。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A：POST /route。座標須在 lat 21.5～26.5、lon 118～122.5，超出回傳 400。最近節點以載入時的節點快照搜尋；A* 在路口收縮圖上搜尋（含 3 條備選），再展開回原路段。成本 = 行車時間 × (時間權重 + 風險 × 風險權重) + 轉彎 + 號誌。</a:t>
            </a:r>
          </a:p>
          <a:p>
            <a:r>
              <a:t>B：手動事件（POST /events）與 AI 預測（POST /predict/run）走增量更新：方框更新約 20 毫秒，再沿上游傳播 1～12 毫秒；每 5 分鐘的 TDX/CWA 同步、刪除事件、天氣變動走全量重算（2.6～4.3 秒，背景執行）。兩條路都只改記憶體中的路網成本並同步切割路網，下一次搜尋立即反映。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資料來源：TDX 車速偵測器 1,361 站、TDX 路況新聞、CWA 700+ 氣象站，每 5 分鐘同步。路網 765 萬條路段，切割後 7.8 萬段。AI 預測（T-GCN）寫成「預測壅塞」事件接入。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A*：f = g + h，h = 直線距離 ÷ 120 km/h；全台速限最高 110 km/h，所以 h 不會高估。轉彎 10 秒、迴轉 25 秒、每個紅綠燈 20 秒（高速公路不計）。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這場車禍：① 事故點周圍 ±0.80 公里，往上游最遠 6.0 公里；② 方框內 456 條＋傳播 166 條路段；③ 22 段（全台 77,725 段）；④ 重新搜尋不到 0.1 秒。新增一個事件：方框更新 18～92 毫秒＋傳播 1～12 毫秒；整張重算 2.6～4.3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整張重算 4.3 秒（7.6M 條路段）；增量更新平均約 20 毫秒（事件半徑內約 1,100 條），快約 200 倍。這場車禍：456 條路段，行車時間 ×1.44（嚴重度 0.80 × 車禍乘數 1.80）、風險 +6.4。時段與路線模式在找路時才代入，所以改一次三種模式都適用。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 0～500 個事件時：整張重算 2.6～4.3 秒；新增一個事件 18～92 毫秒。k 個事件更新 O(k·m)，m 為每個事件碰到的路段數；找路 O(E log E)，與事件數無關。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示意圖。實際數字：每往上游約 2.5 公里，影響剩約 37%；遇岔路依車道數分配。衰減速度由 164 件國道一號事故的回堵資料推得。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同一套演算法、同一種事件。台北忠孝東路：最遠 1.2 公里，76 段路、305 條路段，強影響（≥0.37）25 條。蘇花公路：最遠 6.1 公里，7 段路、311 條路段，強影響 154 條。原本的方框法在兩地都是 ±0.66 公里。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影響 7 段路口之間的路、166 條路段，最遠 6.0 公里；高公局實測國道一號事故回堵 p75 為 6.43 公里。事件沒有方向資訊，所以兩個方向都往各自的上游傳。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依實際公式畫的示意：每 2.5 公里乘 exp(−1) ≈ 0.37；岔路依車道數代理值分配（例：主線 3 車道、匝道 1 車道 → 3/4、1/4）；低於 0.05 就停。計算方法是增量 PageRank 的殘差推送（Andersen, Chung &amp; Lang, 2006）：PageRank 讓網頁重要性沿連結逐層傳遞，這裡讓車禍影響沿道路逐段傳遞。全台主幹路網切成 77,725 段；同一地點第一次計算約十幾毫秒，結果記錄下來，再發生時查表不到 1 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驗證（verify_propagation.py）：推送 vs 精確解，影響 ≥0.05 的路段無遺漏，最大誤差 0.017；增量套用 vs 整張重算，595 條路段成本完全相同；刪除事件後路線回到 162.74 公里。壅塞與預測本來就是逐點量測值，不再傳播；封路與山崩維持原方法。開啟方式：EVENT_PROPAGATION=1，需搭配 PARTITION_MODE=1（且 PRELOAD_ALL_ROADS=0）。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主幹路網 793,898 個點，真正的路口只有 35,668 個（4.5%）；平均每段路 34 公尺。台北→台中一次搜尋要展開 268,742 段路。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真實路網 78.6% 是雙向道：依出度 &gt; 1 判斷，核心點比例 67.7%（平均子圖 1.5 個點），等於沒切；改為無向度數 ≠ 2 後只剩 4.5%（平均子圖 17.3 段路、約 590 公尺）。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節點 793,898 → 35,668（22.3 倍）；路段 1,344,026 → 77,725 段（17.3 倍）。正確性：成本加總誤差 1.8×10⁻¹³；16/16 條路線逐段相同；50/50 條路線成功。建圖只在伺服器啟動時做一次（約 8.6 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這場車禍：方框內 456 條路段，屬於 22 段路口之間的路；往上游傳播影響的 7 段也一併同步。修正前實測：刪除事件並重算後有 22 段殘留事件成本，路線仍在繞路。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原系統全路網載入：台北→台中（含 3 條備選）25.59 秒、50 條 372 秒、成功 40/50；只載主幹：7.06 秒、185.3 秒、50/50；加路口收縮：0.371 秒、13.7 秒、50/50。台北→高雄 2.62 → 0.135 秒。單次加速倍數：板橋 7×、台中 14×、嘉義 20×、高雄 19×。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高公局 TDCS M05A 門架路段平均車速（ETC 門架間旅行時間換算，各車種以流量加權）。國 1、國 3、國 5、國 1 高架、國 3 甲；2026/5/10～5/30，共 6,048 個時間點。路網圖：路段的終點門架 = 下一段的起點門架就連一條邊，共 378 個節點、421 條邊，國道之間經系統交流道相連。左圖顏色是 5/29 17:35 的實際車速。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T-GCN：每個時間步先做 2 層圖卷積（隱藏維度 64）聚合上下游，再接 GRU；加入殘差連接保留路段自身車速——拿掉後 5 分鐘誤差反而比純 GRU 差。輸入過去 12 步（60 分鐘）的車速與車流量，同時輸出 5／15／30 分鐘後三個預測。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依時間順序切分 70%／10%／20%，測試段完全在訓練段之後，不會偷看未來。學習率 0.001、Adam、批次 32、最多 50 輪，驗證誤差連續 8 輪沒進步就提前停止；GPU 訓練約 1.5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國道一號北上台中路段（01F0293N-01F0256N），測試期間 5/27 全天，每 5 分鐘一點。橘線是 30 分鐘前就做出的預測；虛線是「直接沿用當下車速」。這一天的 30 分鐘預測平均誤差：AI 5.0、沿用現在 5.8 km/h（壅塞路段比平均難預測）。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測試段（最後 4 天）MAE，km/h：T-GCN 2.11 / 2.62 / 3.13；只看自己（GRU，不看鄰居）2.20 / 2.68 / 3.23；沿用上一刻 2.70 / 3.23 / 3.82；歷史同時段平均 4.00。30 分鐘：3.13 vs 3.82，少 18%。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順暢車速 = 各路段車速的第 85 百分位；預測車速低於它的 70% 才建立事件（與即時 VD 壅塞判定相同），事件放在路段中點、半徑 1 公里，時間乘數 = 順暢車速 ÷ 預測車速。台北→基隆（平衡模式）：預測前 21.20 分鐘；套用 26 個預測壅塞後改道 22.88 分鐘；清除預測後精確還原 21.20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資料源：高公局 ETagPairLive（門架配對即時車速，與訓練用的 M05A 同格式），每 5 分鐘一檔。維護最近 12 步（60 分鐘）滾動視窗；冷啟動一次抓過去 12 檔。管理介面 POST /predict/live/start、/predict/live/stop 啟動與停止。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gcn/traffic/model_update.py：補下載高公局 M05A 日資料（與原始訓練資料同來源、同前處理）→以全部累積資料重訓（架構與參數不變）→ 最新 3 天測試、再往前 2 天驗證 →平均誤差至少降低 1%、且 30 分鐘預測沒有變差才換上。原始模型 results/traffic_tgcn.ckpt 登記為 v0、永不覆寫；API：GET /predict/model、POST /predict/model/update、POST /predict/model/activate?version=v0；環境變數 MODEL_UPDATE_HOURS=24 即每天自動執行。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實測：原始 21 天（5/10～5/30）＋新下載 21 天（5/31～6/20），共 42 天；訓練 5/10～6/15，驗證 6/16～17，測試 6/18～20（新舊模型都沒看過）。平均誤差（5/15/30 分鐘平均，km/h）：原始 2.643 → 新 2.609，降低 1.3%；30 分鐘 3.255 → 3.202。逐日：6/18 3.115→3.055（1.9%）、6/19 2.486→2.461（1.0%）、6/20 2.321→2.304（0.7%）。同期「沿用現在車速」2.90～3.71。新模型登記為 v1 並啟用；簡報其他頁的準確度數字是原始模型 v0 的成績。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殘差 = 預測車速 − 實際車速，標準化後超過 3 即標記。以高公局事故通報為標準答案：測試期間 123 件國道一號事故中偵測到 75 件（61%）；標記點命中率 13.3%，是隨機的 5.7 倍。命中率偏低是因為標準答案只有事故，施工、匝道壅塞等真實減速也會被標記。圖中例子（5/30 10:52 國道一號北上 218 公里）：第一次標記與官方通報幾乎同時。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2026/5/26～30 國道一號事故 164 件，相對事故前 60～30 分鐘的基準車速。事故路段降速：中位數 1.28 倍、前 25% 嚴重 2.07 倍（系統設定 1.44 倍，介於兩者之間）。回堵長度：中位數 2.15 公里、p75 6.43 公里。恢復到基準 90%：中位數 25 分鐘。每往上游一個門架區段，超額減速只剩 17～20%，推得傳播衰減 λ = 2.5 公里。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方框 ±0.80 公里＋往上游 6.0 公里；② 456＋166 條路段；③ 22 段；④ 162.74 → 173.79 公里、113.2 → 117.7 分鐘（平日上午 10 點）。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證據：台北 1.2 公里 vs 蘇花 6.1 公里（164 件事故校準）；新增事件約 20 毫秒 vs 整張重算 4.3 秒；找路快約 13.5 倍；預測誤差 2.11～3.13 km/h，異常偵測抓到 61% 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新增事件約 20 毫秒反映到路網；衰減速度由 164 件國道一號事故回堵資料校正；台北→高雄 0.135 秒（含 3 條備選 0.93 秒），50 條隨機路線全部成功；AI 預測寫成「預測壅塞」事件，路由程式未修改。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另：三因子模型的「替代道路密度」以 34 公尺的路段計數，真實路網上幾乎都滿分；可改成計算不同道路的條數（蘇花約 10 條、台北上千條）。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76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51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740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28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04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37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34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50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64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03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2459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3426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8129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306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57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98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FAF63-4644-43C4-915E-AFF8836A289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61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  <p:sldLayoutId id="2147484212" r:id="rId12"/>
    <p:sldLayoutId id="2147484213" r:id="rId13"/>
    <p:sldLayoutId id="2147484214" r:id="rId14"/>
    <p:sldLayoutId id="2147484215" r:id="rId15"/>
    <p:sldLayoutId id="214748421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000000"/>
                </a:solidFill>
              </a:rPr>
              <a:t>動態路網導航系統</a:t>
            </a:r>
          </a:p>
          <a:p>
            <a:r>
              <a:rPr sz="2600" b="0">
                <a:solidFill>
                  <a:srgbClr val="000000"/>
                </a:solidFill>
              </a:rPr>
              <a:t>Dynamic Road Network Navigation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組員：黃奕睿　林秉達　葉芢杰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介紹</a:t>
            </a:r>
          </a:p>
          <a:p>
            <a:pPr>
              <a:spcBef>
                <a:spcPts val="600"/>
              </a:spcBef>
            </a:pPr>
            <a:r>
              <a:rPr sz="3200" b="0"/>
              <a:t>系統流程</a:t>
            </a:r>
          </a:p>
          <a:p>
            <a:pPr>
              <a:spcBef>
                <a:spcPts val="600"/>
              </a:spcBef>
            </a:pPr>
            <a:r>
              <a:rPr sz="3200" b="0"/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0"/>
              <a:t>路網切割</a:t>
            </a:r>
          </a:p>
          <a:p>
            <a:pPr>
              <a:spcBef>
                <a:spcPts val="600"/>
              </a:spcBef>
            </a:pPr>
            <a:r>
              <a:rPr sz="3200" b="0"/>
              <a:t>交通預測</a:t>
            </a:r>
          </a:p>
          <a:p>
            <a:pPr>
              <a:spcBef>
                <a:spcPts val="600"/>
              </a:spcBef>
            </a:pPr>
            <a:r>
              <a:rPr sz="3200" b="0"/>
              <a:t>成果展示</a:t>
            </a:r>
          </a:p>
          <a:p>
            <a:pPr>
              <a:spcBef>
                <a:spcPts val="600"/>
              </a:spcBef>
            </a:pPr>
            <a:r>
              <a:rPr sz="3200" b="0"/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研究動機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即時資料未被利用：</a:t>
            </a:r>
            <a:r>
              <a:rPr sz="2600" b="0">
                <a:solidFill>
                  <a:srgbClr val="262626"/>
                </a:solidFill>
              </a:rPr>
              <a:t>路況與天氣資料沒用在路線規劃。</a:t>
            </a:r>
          </a:p>
          <a:p>
            <a:pPr algn="l">
              <a:spcBef>
                <a:spcPts val="18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出事後反應太慢：</a:t>
            </a:r>
            <a:r>
              <a:rPr sz="2600" b="0">
                <a:solidFill>
                  <a:srgbClr val="262626"/>
                </a:solidFill>
              </a:rPr>
              <a:t>突發的車禍、施工無法即時繞開。</a:t>
            </a:r>
          </a:p>
          <a:p>
            <a:pPr algn="l">
              <a:spcBef>
                <a:spcPts val="18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全部重算太慢：</a:t>
            </a:r>
            <a:r>
              <a:rPr sz="2600" b="0">
                <a:solidFill>
                  <a:srgbClr val="262626"/>
                </a:solidFill>
              </a:rPr>
              <a:t>全台重算一次要好幾秒，跟不上事件。</a:t>
            </a:r>
          </a:p>
          <a:p>
            <a:pPr algn="l">
              <a:spcBef>
                <a:spcPts val="18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只加成本不夠：</a:t>
            </a:r>
            <a:r>
              <a:rPr sz="2600" b="0">
                <a:solidFill>
                  <a:srgbClr val="262626"/>
                </a:solidFill>
              </a:rPr>
              <a:t>看不出事故的影響會傳到多遠。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研究目的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2600" b="0">
                <a:solidFill>
                  <a:srgbClr val="262626"/>
                </a:solidFill>
              </a:rPr>
              <a:t>整合交通、天氣與 AI 預測，讓路線反映即時路況。</a:t>
            </a:r>
          </a:p>
          <a:p>
            <a:pPr algn="l">
              <a:spcBef>
                <a:spcPts val="1800"/>
              </a:spcBef>
              <a:buFont typeface="Wingdings" pitchFamily="2" charset="2"/>
              <a:buChar char="l"/>
            </a:pPr>
            <a:r>
              <a:rPr sz="2600" b="0">
                <a:solidFill>
                  <a:srgbClr val="262626"/>
                </a:solidFill>
              </a:rPr>
              <a:t>事件發生時只更新受影響的道路，立即反映到路線上。</a:t>
            </a:r>
          </a:p>
          <a:p>
            <a:pPr algn="l">
              <a:spcBef>
                <a:spcPts val="1800"/>
              </a:spcBef>
              <a:buFont typeface="Wingdings" pitchFamily="2" charset="2"/>
              <a:buChar char="l"/>
            </a:pPr>
            <a:r>
              <a:rPr sz="2600" b="0">
                <a:solidFill>
                  <a:srgbClr val="262626"/>
                </a:solidFill>
              </a:rPr>
              <a:t>讓事件影響沿道路往後傳播，反映真實的回堵。</a:t>
            </a:r>
          </a:p>
          <a:p>
            <a:pPr algn="l">
              <a:spcBef>
                <a:spcPts val="1800"/>
              </a:spcBef>
              <a:buFont typeface="Wingdings" pitchFamily="2" charset="2"/>
              <a:buChar char="l"/>
            </a:pPr>
            <a:r>
              <a:rPr sz="2600" b="0">
                <a:solidFill>
                  <a:srgbClr val="262626"/>
                </a:solidFill>
              </a:rPr>
              <a:t>以路網切割加快找路速度，路線結果維持不變。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與一般導航的差別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00200" y="1691640"/>
          <a:ext cx="10058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457200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</a:rPr>
                        <a:t>只把事件當成本加上去</a:t>
                      </a:r>
                    </a:p>
                  </a:txBody>
                  <a:tcPr anchor="ctr"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</a:rPr>
                        <a:t>本系統</a:t>
                      </a:r>
                    </a:p>
                  </a:txBody>
                  <a:tcPr anchor="ctr">
                    <a:solidFill>
                      <a:srgbClr val="2E536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E5369"/>
                          </a:solidFill>
                        </a:rPr>
                        <a:t>車禍影響範圍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固定大小的範圍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沿道路往後傳，依路網決定遠近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E5369"/>
                          </a:solidFill>
                        </a:rPr>
                        <a:t>路況改變時</a:t>
                      </a:r>
                    </a:p>
                  </a:txBody>
                  <a:tcPr anchor="ctr">
                    <a:solidFill>
                      <a:srgbClr val="E6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全台灣重新計算</a:t>
                      </a:r>
                    </a:p>
                  </a:txBody>
                  <a:tcPr anchor="ctr">
                    <a:solidFill>
                      <a:srgbClr val="E6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只更新事故附近的道路</a:t>
                      </a:r>
                    </a:p>
                  </a:txBody>
                  <a:tcPr anchor="ctr">
                    <a:solidFill>
                      <a:srgbClr val="E6EE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E5369"/>
                          </a:solidFill>
                        </a:rPr>
                        <a:t>找路方式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逐點搜尋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路口之間併成一段，一次跨過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E5369"/>
                          </a:solidFill>
                        </a:rPr>
                        <a:t>繞路時機</a:t>
                      </a:r>
                    </a:p>
                  </a:txBody>
                  <a:tcPr anchor="ctr">
                    <a:solidFill>
                      <a:srgbClr val="E6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塞車後才繞</a:t>
                      </a:r>
                    </a:p>
                  </a:txBody>
                  <a:tcPr anchor="ctr">
                    <a:solidFill>
                      <a:srgbClr val="E6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62626"/>
                          </a:solidFill>
                        </a:rPr>
                        <a:t>預測會塞就提前繞</a:t>
                      </a:r>
                    </a:p>
                  </a:txBody>
                  <a:tcPr anchor="ctr">
                    <a:solidFill>
                      <a:srgbClr val="E6EEF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600200" y="54864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548640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E5369"/>
                </a:solidFill>
              </a:rPr>
              <a:t>找路方法（A*）與一般導航相同，差別在事件發生之後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全場範例：國道一號車禍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5_路線反應.png"/>
          <p:cNvPicPr>
            <a:picLocks noChangeAspect="1"/>
          </p:cNvPicPr>
          <p:nvPr/>
        </p:nvPicPr>
        <p:blipFill>
          <a:blip r:embed="rId2"/>
          <a:srcRect l="3600" r="39600" t="17600" b="6600"/>
          <a:stretch>
            <a:fillRect/>
          </a:stretch>
        </p:blipFill>
        <p:spPr>
          <a:xfrm>
            <a:off x="1600200" y="1600200"/>
            <a:ext cx="5760720" cy="4326506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35240" y="173736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路線：</a:t>
            </a:r>
            <a:r>
              <a:rPr sz="2200" b="0">
                <a:solidFill>
                  <a:srgbClr val="262626"/>
                </a:solidFill>
              </a:rPr>
              <a:t>台北 → 台中</a:t>
            </a:r>
          </a:p>
          <a:p>
            <a:pPr algn="l"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車禍前：</a:t>
            </a:r>
            <a:r>
              <a:rPr sz="2200" b="0">
                <a:solidFill>
                  <a:srgbClr val="262626"/>
                </a:solidFill>
              </a:rPr>
              <a:t>走國道一號</a:t>
            </a:r>
          </a:p>
          <a:p>
            <a:pPr algn="l"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車禍後：</a:t>
            </a:r>
            <a:r>
              <a:rPr sz="2200" b="0">
                <a:solidFill>
                  <a:srgbClr val="262626"/>
                </a:solidFill>
              </a:rPr>
              <a:t>自動改道</a:t>
            </a:r>
          </a:p>
          <a:p>
            <a:pPr algn="l"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代價：</a:t>
            </a:r>
            <a:r>
              <a:rPr sz="2200" b="0">
                <a:solidFill>
                  <a:srgbClr val="262626"/>
                </a:solidFill>
              </a:rPr>
              <a:t>多繞約 11 公里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8920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F6F78"/>
                </a:solidFill>
              </a:rPr>
              <a:t>後續各章依序說明</a:t>
            </a:r>
          </a:p>
          <a:p>
            <a:pPr algn="l"/>
            <a:r>
              <a:rPr sz="2000" b="0">
                <a:solidFill>
                  <a:srgbClr val="5F6F78"/>
                </a:solidFill>
              </a:rPr>
              <a:t>系統如何完成這次改道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0"/>
              <a:t>介紹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系統流程</a:t>
            </a:r>
          </a:p>
          <a:p>
            <a:pPr>
              <a:spcBef>
                <a:spcPts val="600"/>
              </a:spcBef>
            </a:pPr>
            <a:r>
              <a:rPr sz="3200" b="0"/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0"/>
              <a:t>路網切割</a:t>
            </a:r>
          </a:p>
          <a:p>
            <a:pPr>
              <a:spcBef>
                <a:spcPts val="600"/>
              </a:spcBef>
            </a:pPr>
            <a:r>
              <a:rPr sz="3200" b="0"/>
              <a:t>交通預測</a:t>
            </a:r>
          </a:p>
          <a:p>
            <a:pPr>
              <a:spcBef>
                <a:spcPts val="600"/>
              </a:spcBef>
            </a:pPr>
            <a:r>
              <a:rPr sz="3200" b="0"/>
              <a:t>成果展示</a:t>
            </a:r>
          </a:p>
          <a:p>
            <a:pPr>
              <a:spcBef>
                <a:spcPts val="600"/>
              </a:spcBef>
            </a:pPr>
            <a:r>
              <a:rPr sz="3200" b="0"/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系統架構圖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0104120" cy="5358384"/>
          </a:xfrm>
          <a:prstGeom prst="rect">
            <a:avLst/>
          </a:prstGeom>
          <a:solidFill>
            <a:srgbClr val="FFFFFF"/>
          </a:solidFill>
          <a:ln w="9525">
            <a:solidFill>
              <a:srgbClr val="B8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1371600"/>
            <a:ext cx="9921240" cy="3200400"/>
          </a:xfrm>
          <a:prstGeom prst="roundRect">
            <a:avLst>
              <a:gd name="adj" fmla="val 3000"/>
            </a:avLst>
          </a:prstGeom>
          <a:noFill/>
          <a:ln w="22225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91640" y="4663440"/>
            <a:ext cx="9921240" cy="1920240"/>
          </a:xfrm>
          <a:prstGeom prst="roundRect">
            <a:avLst>
              <a:gd name="adj" fmla="val 3000"/>
            </a:avLst>
          </a:prstGeom>
          <a:noFill/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444752"/>
            <a:ext cx="3200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44FB3"/>
                </a:solidFill>
                <a:latin typeface="Microsoft JhengHei"/>
                <a:ea typeface="Microsoft JhengHei"/>
              </a:rPr>
              <a:t>A. 線上導航流程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27448"/>
            <a:ext cx="3200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Microsoft JhengHei"/>
                <a:ea typeface="Microsoft JhengHei"/>
              </a:rPr>
              <a:t>B. 背景路況更新流程</a:t>
            </a:r>
          </a:p>
        </p:txBody>
      </p:sp>
      <p:sp>
        <p:nvSpPr>
          <p:cNvPr id="12" name="Terminator 11"/>
          <p:cNvSpPr/>
          <p:nvPr/>
        </p:nvSpPr>
        <p:spPr>
          <a:xfrm>
            <a:off x="4754880" y="1481328"/>
            <a:ext cx="3108960" cy="310896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開始：使用者設定起終點</a:t>
            </a:r>
          </a:p>
        </p:txBody>
      </p:sp>
      <p:sp>
        <p:nvSpPr>
          <p:cNvPr id="13" name="Data 12"/>
          <p:cNvSpPr/>
          <p:nvPr/>
        </p:nvSpPr>
        <p:spPr>
          <a:xfrm>
            <a:off x="4572000" y="1883664"/>
            <a:ext cx="3474720" cy="438912"/>
          </a:xfrm>
          <a:prstGeom prst="flowChartInputOutpu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輸入路線條件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起點、終點、路線模式</a:t>
            </a:r>
          </a:p>
        </p:txBody>
      </p:sp>
      <p:sp>
        <p:nvSpPr>
          <p:cNvPr id="14" name="Decision 13"/>
          <p:cNvSpPr/>
          <p:nvPr/>
        </p:nvSpPr>
        <p:spPr>
          <a:xfrm>
            <a:off x="4937760" y="2432304"/>
            <a:ext cx="2743200" cy="512064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EE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50" b="1">
                <a:solidFill>
                  <a:srgbClr val="262626"/>
                </a:solidFill>
                <a:latin typeface="Microsoft JhengHei"/>
                <a:ea typeface="Microsoft JhengHei"/>
              </a:rPr>
              <a:t>座標在台灣範圍內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054096"/>
            <a:ext cx="310896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找出最近的道路節點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474720"/>
            <a:ext cx="310896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A* 路徑搜尋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在切割路網上找最佳與備選路線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4023360"/>
            <a:ext cx="310896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展開回實際道路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整理距離、時間、途經事件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1792224"/>
            <a:ext cx="0" cy="9144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0" y="2322576"/>
            <a:ext cx="0" cy="109728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09360" y="2944368"/>
            <a:ext cx="0" cy="109728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09360" y="3364992"/>
            <a:ext cx="0" cy="109728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3913632"/>
            <a:ext cx="0" cy="109728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19088" y="2935224"/>
            <a:ext cx="365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  <a:ea typeface="Microsoft JhengHei"/>
              </a:rPr>
              <a:t>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2688336"/>
            <a:ext cx="82296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0960" y="2432304"/>
            <a:ext cx="8229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62626"/>
                </a:solidFill>
                <a:latin typeface="Microsoft JhengHei"/>
                <a:ea typeface="Microsoft JhengHei"/>
              </a:rPr>
              <a:t>否</a:t>
            </a:r>
          </a:p>
        </p:txBody>
      </p:sp>
      <p:sp>
        <p:nvSpPr>
          <p:cNvPr id="26" name="Terminator 25"/>
          <p:cNvSpPr/>
          <p:nvPr/>
        </p:nvSpPr>
        <p:spPr>
          <a:xfrm>
            <a:off x="8503920" y="2505456"/>
            <a:ext cx="2286000" cy="36576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結束：提示重新選點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474720"/>
            <a:ext cx="2057400" cy="438912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道路成本</a:t>
            </a:r>
          </a:p>
          <a:p>
            <a:pPr algn="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時間、風險、轉彎、紅綠燈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3474720"/>
            <a:ext cx="0" cy="438912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13632" y="3474720"/>
            <a:ext cx="109728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913632" y="3913632"/>
            <a:ext cx="109728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23360" y="3694176"/>
            <a:ext cx="731520" cy="0"/>
          </a:xfrm>
          <a:prstGeom prst="line">
            <a:avLst/>
          </a:prstGeom>
          <a:ln w="15875"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n 31"/>
          <p:cNvSpPr/>
          <p:nvPr/>
        </p:nvSpPr>
        <p:spPr>
          <a:xfrm>
            <a:off x="8732520" y="3401568"/>
            <a:ext cx="1371600" cy="548640"/>
          </a:xfrm>
          <a:prstGeom prst="can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路網成本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記憶體中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863840" y="3694176"/>
            <a:ext cx="86868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63840" y="343814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JhengHei"/>
                <a:ea typeface="Microsoft JhengHei"/>
              </a:rPr>
              <a:t>讀取</a:t>
            </a:r>
          </a:p>
        </p:txBody>
      </p:sp>
      <p:sp>
        <p:nvSpPr>
          <p:cNvPr id="35" name="Terminator 34"/>
          <p:cNvSpPr/>
          <p:nvPr/>
        </p:nvSpPr>
        <p:spPr>
          <a:xfrm>
            <a:off x="8412480" y="4059936"/>
            <a:ext cx="2103120" cy="36576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結束：地圖顯示路線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63840" y="4242816"/>
            <a:ext cx="54864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rminator 36"/>
          <p:cNvSpPr/>
          <p:nvPr/>
        </p:nvSpPr>
        <p:spPr>
          <a:xfrm>
            <a:off x="1828800" y="5129784"/>
            <a:ext cx="1920240" cy="4572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50" b="1">
                <a:solidFill>
                  <a:srgbClr val="262626"/>
                </a:solidFill>
                <a:latin typeface="Microsoft JhengHei"/>
                <a:ea typeface="Microsoft JhengHei"/>
              </a:rPr>
              <a:t>開始：新增事件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管理員手動、AI 預測</a:t>
            </a:r>
          </a:p>
        </p:txBody>
      </p:sp>
      <p:sp>
        <p:nvSpPr>
          <p:cNvPr id="38" name="Terminator 37"/>
          <p:cNvSpPr/>
          <p:nvPr/>
        </p:nvSpPr>
        <p:spPr>
          <a:xfrm>
            <a:off x="1828800" y="5971032"/>
            <a:ext cx="1920240" cy="4572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50" b="1">
                <a:solidFill>
                  <a:srgbClr val="262626"/>
                </a:solidFill>
                <a:latin typeface="Microsoft JhengHei"/>
                <a:ea typeface="Microsoft JhengHei"/>
              </a:rPr>
              <a:t>開始：定時同步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每 5 分鐘 TDX、CWA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49039" y="5358384"/>
            <a:ext cx="182881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31920" y="5358384"/>
            <a:ext cx="0" cy="420624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31920" y="5779008"/>
            <a:ext cx="18288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749039" y="6199632"/>
            <a:ext cx="182881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31920" y="5779008"/>
            <a:ext cx="0" cy="420624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n 43"/>
          <p:cNvSpPr/>
          <p:nvPr/>
        </p:nvSpPr>
        <p:spPr>
          <a:xfrm>
            <a:off x="4114800" y="5468112"/>
            <a:ext cx="1600200" cy="621792"/>
          </a:xfrm>
          <a:prstGeom prst="can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事件資料庫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事件、天氣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15000" y="5779008"/>
            <a:ext cx="22860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ecision 45"/>
          <p:cNvSpPr/>
          <p:nvPr/>
        </p:nvSpPr>
        <p:spPr>
          <a:xfrm>
            <a:off x="5943600" y="5504688"/>
            <a:ext cx="1828800" cy="548640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EE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更新類型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858000" y="5358384"/>
            <a:ext cx="0" cy="146304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858000" y="5358384"/>
            <a:ext cx="123444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858000" y="6053328"/>
            <a:ext cx="0" cy="146304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58000" y="6199632"/>
            <a:ext cx="123444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49440" y="5084064"/>
            <a:ext cx="1097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JhengHei"/>
                <a:ea typeface="Microsoft JhengHei"/>
              </a:rPr>
              <a:t>單一事件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6227064"/>
            <a:ext cx="1097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JhengHei"/>
                <a:ea typeface="Microsoft JhengHei"/>
              </a:rPr>
              <a:t>整批更新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5129784"/>
            <a:ext cx="1828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增量更新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只改附近並沿路往後傳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92440" y="5971032"/>
            <a:ext cx="1828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全量重算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整張路網重新計算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921240" y="5358384"/>
            <a:ext cx="137160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5358384"/>
            <a:ext cx="0" cy="420624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058400" y="5779008"/>
            <a:ext cx="13716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921240" y="6199632"/>
            <a:ext cx="137160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058400" y="5779008"/>
            <a:ext cx="0" cy="420624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0195560" y="5550408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更新路網成本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  <a:ea typeface="Microsoft JhengHei"/>
              </a:rPr>
              <a:t>同步切割路網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835640" y="6007608"/>
            <a:ext cx="0" cy="173736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rminator 61"/>
          <p:cNvSpPr/>
          <p:nvPr/>
        </p:nvSpPr>
        <p:spPr>
          <a:xfrm>
            <a:off x="10332720" y="6181344"/>
            <a:ext cx="1005840" cy="310896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結束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10835640" y="3694176"/>
            <a:ext cx="0" cy="1856232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0104120" y="3694176"/>
            <a:ext cx="73152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899648" y="4114800"/>
            <a:ext cx="548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Microsoft JhengHei"/>
                <a:ea typeface="Microsoft JhengHei"/>
              </a:rPr>
              <a:t>寫入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系統分層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45920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7863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</a:rPr>
              <a:t>路況、交通新聞、天氣、管理員輸入、AI 預測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313432" y="2414016"/>
            <a:ext cx="219456" cy="237744"/>
          </a:xfrm>
          <a:prstGeom prst="downArrow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00200" y="2670048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670048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670048"/>
            <a:ext cx="7863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</a:rPr>
              <a:t>統一寫成同一種格式：發生地點與嚴重程度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313432" y="3438144"/>
            <a:ext cx="219456" cy="237744"/>
          </a:xfrm>
          <a:prstGeom prst="downArrow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0200" y="3694176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路網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694176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694176"/>
            <a:ext cx="7863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</a:rPr>
              <a:t>每條道路目前的行車時間與危險程度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313432" y="4462272"/>
            <a:ext cx="219456" cy="237744"/>
          </a:xfrm>
          <a:prstGeom prst="downArrow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4718304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路線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718304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718304"/>
            <a:ext cx="7863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</a:rPr>
              <a:t>找出最合適的路線，顯示在地圖上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576072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76072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E5369"/>
                </a:solidFill>
              </a:rPr>
              <a:t>新資料只要寫成「事件」即可接上，找路程式不需修改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找路方法：A* 搜尋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方向：</a:t>
            </a:r>
            <a:r>
              <a:rPr sz="2600" b="0">
                <a:solidFill>
                  <a:srgbClr val="262626"/>
                </a:solidFill>
              </a:rPr>
              <a:t>每一步選「已花時間＋預估剩餘時間」最少的方向前進。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不會錯過：</a:t>
            </a:r>
            <a:r>
              <a:rPr sz="2600" b="0">
                <a:solidFill>
                  <a:srgbClr val="262626"/>
                </a:solidFill>
              </a:rPr>
              <a:t>預估值刻意偏低，保證找到最佳路線。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成本：</a:t>
            </a:r>
            <a:r>
              <a:rPr sz="2600" b="0">
                <a:solidFill>
                  <a:srgbClr val="262626"/>
                </a:solidFill>
              </a:rPr>
              <a:t>行車時間、危險程度、轉彎與紅綠燈都計入。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三種模式：</a:t>
            </a:r>
            <a:r>
              <a:rPr sz="2600" b="0">
                <a:solidFill>
                  <a:srgbClr val="262626"/>
                </a:solidFill>
              </a:rPr>
              <a:t>最快、平衡、最安全，差別在對危險的重視程度。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562356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56235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C2571A"/>
                </a:solidFill>
              </a:rPr>
              <a:t>此部分與一般導航相同，本系統的重點在事件發生之後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事件發生後的四個步驟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7373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2E5369"/>
                </a:solidFill>
              </a:rPr>
              <a:t>① 影響範圍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找出這場車禍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會影響的道路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9352" y="2514600"/>
            <a:ext cx="201168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17373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2E5369"/>
                </a:solidFill>
              </a:rPr>
              <a:t>② 更新道路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只改這些道路的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行車時間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47104" y="2514600"/>
            <a:ext cx="201168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75704" y="17373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2E5369"/>
                </a:solidFill>
              </a:rPr>
              <a:t>③ 同步地圖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同步到找路用的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簡化地圖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34856" y="2514600"/>
            <a:ext cx="201168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3456" y="17373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2E5369"/>
                </a:solidFill>
              </a:rPr>
              <a:t>④ 重新找路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在新路況上搜尋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262626"/>
                </a:solidFill>
              </a:rPr>
              <a:t>自動繞開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3886200"/>
            <a:ext cx="10058400" cy="8686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886200"/>
            <a:ext cx="9601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</a:rPr>
              <a:t>全台路況每 5 分鐘整批更新時才整張重算，於背景執行，不影響使用者。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512064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12064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E5369"/>
                </a:solidFill>
              </a:rPr>
              <a:t>新增一個事件，不到一眨眼的時間就反映到路線上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只更新受影響的道路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4592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全台灣重算一次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5F6F78"/>
                </a:solidFill>
              </a:rPr>
              <a:t>約 4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92608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只更新事故附近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約 0.02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29768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0">
                <a:solidFill>
                  <a:srgbClr val="262626"/>
                </a:solidFill>
              </a:rPr>
              <a:t>只修改事故附近道路的行車時間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100" b="0">
                <a:solidFill>
                  <a:srgbClr val="262626"/>
                </a:solidFill>
              </a:rPr>
              <a:t>其他道路完全不動</a:t>
            </a:r>
          </a:p>
        </p:txBody>
      </p:sp>
      <p:pic>
        <p:nvPicPr>
          <p:cNvPr id="10" name="Picture 9" descr="3_更新範圍內路段.png"/>
          <p:cNvPicPr>
            <a:picLocks noChangeAspect="1"/>
          </p:cNvPicPr>
          <p:nvPr/>
        </p:nvPicPr>
        <p:blipFill>
          <a:blip r:embed="rId2"/>
          <a:srcRect l="3600" r="39600" t="17600" b="6600"/>
          <a:stretch>
            <a:fillRect/>
          </a:stretch>
        </p:blipFill>
        <p:spPr>
          <a:xfrm>
            <a:off x="6355080" y="1645920"/>
            <a:ext cx="5303520" cy="3983133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55080" y="570220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F6F78"/>
                </a:solidFill>
              </a:rPr>
              <a:t>橘色：這場車禍更新的道路；方框外完全不動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事件再多也不會算不完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600200" y="1554480"/>
          <a:ext cx="6035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00200" y="5212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F6F78"/>
                </a:solidFill>
              </a:rPr>
              <a:t>橫軸：系統中已有的事件數；只更新附近的耗時小到幾乎看不見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373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不會連鎖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每個事件只影響附近</a:t>
            </a:r>
          </a:p>
          <a:p>
            <a:pPr marL="347472" indent="-347472">
              <a:spcBef>
                <a:spcPts val="14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會停下來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影響越傳越小就停止</a:t>
            </a:r>
          </a:p>
          <a:p>
            <a:pPr marL="347472" indent="-347472">
              <a:spcBef>
                <a:spcPts val="14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線性成長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事件加倍，工作也加倍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57150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71500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E5369"/>
                </a:solidFill>
              </a:rPr>
              <a:t>找路速度與事件數量無關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0"/>
              <a:t>介紹</a:t>
            </a:r>
          </a:p>
          <a:p>
            <a:pPr>
              <a:spcBef>
                <a:spcPts val="600"/>
              </a:spcBef>
            </a:pPr>
            <a:r>
              <a:rPr sz="3200" b="0"/>
              <a:t>系統流程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0"/>
              <a:t>路網切割</a:t>
            </a:r>
          </a:p>
          <a:p>
            <a:pPr>
              <a:spcBef>
                <a:spcPts val="600"/>
              </a:spcBef>
            </a:pPr>
            <a:r>
              <a:rPr sz="3200" b="0"/>
              <a:t>交通預測</a:t>
            </a:r>
          </a:p>
          <a:p>
            <a:pPr>
              <a:spcBef>
                <a:spcPts val="600"/>
              </a:spcBef>
            </a:pPr>
            <a:r>
              <a:rPr sz="3200" b="0"/>
              <a:t>成果展示</a:t>
            </a:r>
          </a:p>
          <a:p>
            <a:pPr>
              <a:spcBef>
                <a:spcPts val="600"/>
              </a:spcBef>
            </a:pPr>
            <a:r>
              <a:rPr sz="3200" b="0"/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車禍影響沿道路往後傳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7" name="Connector 6"/>
          <p:cNvCxnSpPr/>
          <p:nvPr/>
        </p:nvCxnSpPr>
        <p:spPr>
          <a:xfrm>
            <a:off x="1920240" y="3017520"/>
            <a:ext cx="9509760" cy="0"/>
          </a:xfrm>
          <a:prstGeom prst="line">
            <a:avLst/>
          </a:prstGeom>
          <a:ln w="177800">
            <a:solidFill>
              <a:srgbClr val="B4C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212079" y="3017520"/>
            <a:ext cx="1463041" cy="1234440"/>
          </a:xfrm>
          <a:prstGeom prst="line">
            <a:avLst/>
          </a:prstGeom>
          <a:ln w="127000">
            <a:solidFill>
              <a:srgbClr val="B4C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309360" y="2103120"/>
            <a:ext cx="3657600" cy="0"/>
          </a:xfrm>
          <a:prstGeom prst="line">
            <a:avLst/>
          </a:prstGeom>
          <a:ln w="25400">
            <a:solidFill>
              <a:srgbClr val="5F6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0936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F78"/>
                </a:solidFill>
              </a:rPr>
              <a:t>行車方向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68711" y="2926079"/>
            <a:ext cx="310896" cy="182880"/>
          </a:xfrm>
          <a:prstGeom prst="roundRect">
            <a:avLst/>
          </a:prstGeom>
          <a:solidFill>
            <a:srgbClr val="A134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84663" y="2926079"/>
            <a:ext cx="310896" cy="182880"/>
          </a:xfrm>
          <a:prstGeom prst="roundRect">
            <a:avLst/>
          </a:prstGeom>
          <a:solidFill>
            <a:srgbClr val="BC3D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6051" y="2926079"/>
            <a:ext cx="310896" cy="182880"/>
          </a:xfrm>
          <a:prstGeom prst="roundRect">
            <a:avLst/>
          </a:prstGeom>
          <a:solidFill>
            <a:srgbClr val="D94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9764" y="2926079"/>
            <a:ext cx="310896" cy="182880"/>
          </a:xfrm>
          <a:prstGeom prst="roundRect">
            <a:avLst/>
          </a:prstGeom>
          <a:solidFill>
            <a:srgbClr val="E55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12410" y="2926079"/>
            <a:ext cx="310896" cy="182880"/>
          </a:xfrm>
          <a:prstGeom prst="roundRect">
            <a:avLst/>
          </a:prstGeom>
          <a:solidFill>
            <a:srgbClr val="F16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70295" y="2926079"/>
            <a:ext cx="310896" cy="182880"/>
          </a:xfrm>
          <a:prstGeom prst="roundRect">
            <a:avLst/>
          </a:prstGeom>
          <a:solidFill>
            <a:srgbClr val="F67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79390" y="2926079"/>
            <a:ext cx="310896" cy="182880"/>
          </a:xfrm>
          <a:prstGeom prst="roundRect">
            <a:avLst/>
          </a:prstGeom>
          <a:solidFill>
            <a:srgbClr val="FA8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35303" y="2926079"/>
            <a:ext cx="310896" cy="182880"/>
          </a:xfrm>
          <a:prstGeom prst="roundRect">
            <a:avLst/>
          </a:prstGeom>
          <a:solidFill>
            <a:srgbClr val="FD9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3248" y="2926079"/>
            <a:ext cx="310896" cy="182880"/>
          </a:xfrm>
          <a:prstGeom prst="roundRect">
            <a:avLst/>
          </a:prstGeom>
          <a:solidFill>
            <a:srgbClr val="FDA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8008" y="2926079"/>
            <a:ext cx="310896" cy="182880"/>
          </a:xfrm>
          <a:prstGeom prst="roundRect">
            <a:avLst/>
          </a:prstGeom>
          <a:solidFill>
            <a:srgbClr val="FD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3897" y="2926079"/>
            <a:ext cx="310896" cy="182880"/>
          </a:xfrm>
          <a:prstGeom prst="roundRect">
            <a:avLst/>
          </a:prstGeom>
          <a:solidFill>
            <a:srgbClr val="FDB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24716" y="2926079"/>
            <a:ext cx="310896" cy="182880"/>
          </a:xfrm>
          <a:prstGeom prst="roundRect">
            <a:avLst/>
          </a:prstGeom>
          <a:solidFill>
            <a:srgbClr val="FDB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33708" y="2926079"/>
            <a:ext cx="310896" cy="182880"/>
          </a:xfrm>
          <a:prstGeom prst="roundRect">
            <a:avLst/>
          </a:prstGeom>
          <a:solidFill>
            <a:srgbClr val="FDB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1329" y="3219994"/>
            <a:ext cx="310896" cy="182880"/>
          </a:xfrm>
          <a:prstGeom prst="roundRect">
            <a:avLst/>
          </a:prstGeom>
          <a:solidFill>
            <a:srgbClr val="FD9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22986" y="3513908"/>
            <a:ext cx="310896" cy="182880"/>
          </a:xfrm>
          <a:prstGeom prst="roundRect">
            <a:avLst/>
          </a:prstGeom>
          <a:solidFill>
            <a:srgbClr val="FD9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74643" y="3807822"/>
            <a:ext cx="310896" cy="182880"/>
          </a:xfrm>
          <a:prstGeom prst="roundRect">
            <a:avLst/>
          </a:prstGeom>
          <a:solidFill>
            <a:srgbClr val="FD9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25328" y="2715768"/>
            <a:ext cx="603504" cy="603504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車禍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520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62626"/>
                </a:solidFill>
              </a:rPr>
              <a:t>① 事故點最塞</a:t>
            </a:r>
          </a:p>
          <a:p>
            <a:pPr algn="l"/>
            <a:r>
              <a:rPr sz="1900" b="0">
                <a:solidFill>
                  <a:srgbClr val="262626"/>
                </a:solidFill>
              </a:rPr>
              <a:t>越靠近越慢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520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62626"/>
                </a:solidFill>
              </a:rPr>
              <a:t>② 越往後越不塞</a:t>
            </a:r>
          </a:p>
          <a:p>
            <a:pPr algn="l"/>
            <a:r>
              <a:rPr sz="1900" b="0">
                <a:solidFill>
                  <a:srgbClr val="262626"/>
                </a:solidFill>
              </a:rPr>
              <a:t>影響逐漸變小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62626"/>
                </a:solidFill>
              </a:rPr>
              <a:t>③ 遇到交流道</a:t>
            </a:r>
          </a:p>
          <a:p>
            <a:pPr algn="l"/>
            <a:r>
              <a:rPr sz="1900" b="0">
                <a:solidFill>
                  <a:srgbClr val="262626"/>
                </a:solidFill>
              </a:rPr>
              <a:t>車流分散，影響變小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52578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0200" y="525780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E5369"/>
                </a:solidFill>
              </a:rPr>
              <a:t>影響範圍不是固定的圓，而是由道路的連接方式決定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路網疏密決定影響範圍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8_傳播比較_市區與單一道路.png"/>
          <p:cNvPicPr>
            <a:picLocks noChangeAspect="1"/>
          </p:cNvPicPr>
          <p:nvPr/>
        </p:nvPicPr>
        <p:blipFill>
          <a:blip r:embed="rId2"/>
          <a:srcRect l="3600" r="51600" t="17600" b="24600"/>
          <a:stretch>
            <a:fillRect/>
          </a:stretch>
        </p:blipFill>
        <p:spPr>
          <a:xfrm>
            <a:off x="1691640" y="1554480"/>
            <a:ext cx="4846320" cy="3518857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691640" y="5164777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</a:rPr>
              <a:t>台北市區</a:t>
            </a:r>
          </a:p>
          <a:p>
            <a:pPr algn="l"/>
            <a:r>
              <a:rPr sz="2000" b="0">
                <a:solidFill>
                  <a:srgbClr val="262626"/>
                </a:solidFill>
              </a:rPr>
              <a:t>道路密集，影響很快分散</a:t>
            </a:r>
          </a:p>
        </p:txBody>
      </p:sp>
      <p:pic>
        <p:nvPicPr>
          <p:cNvPr id="9" name="Picture 8" descr="8_傳播比較_市區與單一道路.png"/>
          <p:cNvPicPr>
            <a:picLocks noChangeAspect="1"/>
          </p:cNvPicPr>
          <p:nvPr/>
        </p:nvPicPr>
        <p:blipFill>
          <a:blip r:embed="rId2"/>
          <a:srcRect l="51600" r="3600" t="17600" b="24600"/>
          <a:stretch>
            <a:fillRect/>
          </a:stretch>
        </p:blipFill>
        <p:spPr>
          <a:xfrm>
            <a:off x="6766560" y="1554480"/>
            <a:ext cx="4846320" cy="3518857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766560" y="5164777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</a:rPr>
              <a:t>蘇花公路</a:t>
            </a:r>
          </a:p>
          <a:p>
            <a:pPr algn="l"/>
            <a:r>
              <a:rPr sz="2000" b="0">
                <a:solidFill>
                  <a:srgbClr val="262626"/>
                </a:solidFill>
              </a:rPr>
              <a:t>沒有替代道路，一路往後排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F78"/>
                </a:solidFill>
              </a:rPr>
              <a:t>箭頭為影響傳播方向，越大越深表示影響越強；兩圖比例尺相同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範例車禍的影響範圍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7_事件沿上游傳播.png"/>
          <p:cNvPicPr>
            <a:picLocks noChangeAspect="1"/>
          </p:cNvPicPr>
          <p:nvPr/>
        </p:nvPicPr>
        <p:blipFill>
          <a:blip r:embed="rId2"/>
          <a:srcRect l="3600" r="39600" t="17600" b="6600"/>
          <a:stretch>
            <a:fillRect/>
          </a:stretch>
        </p:blipFill>
        <p:spPr>
          <a:xfrm>
            <a:off x="1600200" y="1600200"/>
            <a:ext cx="5852160" cy="4395181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26679" y="16916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橘色箭頭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影響傳播的方向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箭頭大小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越大越深，影響越強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藍色方框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原方法處理的範圍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結果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最遠約 6 公里，與真實回堵相近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影響逐段往後傳遞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7" name="Connector 6"/>
          <p:cNvCxnSpPr/>
          <p:nvPr/>
        </p:nvCxnSpPr>
        <p:spPr>
          <a:xfrm>
            <a:off x="2743200" y="1783080"/>
            <a:ext cx="7772400" cy="0"/>
          </a:xfrm>
          <a:prstGeom prst="line">
            <a:avLst/>
          </a:prstGeom>
          <a:ln w="19050">
            <a:solidFill>
              <a:srgbClr val="5F6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F78"/>
                </a:solidFill>
              </a:rPr>
              <a:t>行車方向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9006840" y="2834640"/>
            <a:ext cx="1554480" cy="0"/>
          </a:xfrm>
          <a:prstGeom prst="line">
            <a:avLst/>
          </a:prstGeom>
          <a:ln w="38100">
            <a:solidFill>
              <a:srgbClr val="C257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0" y="2267712"/>
            <a:ext cx="2194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</a:rPr>
              <a:t>每段剩約 1/3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995160" y="2834640"/>
            <a:ext cx="1188720" cy="0"/>
          </a:xfrm>
          <a:prstGeom prst="line">
            <a:avLst/>
          </a:prstGeom>
          <a:ln w="38100">
            <a:solidFill>
              <a:srgbClr val="C257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75120" y="2267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</a:rPr>
              <a:t>車道多分得多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800600" y="2834640"/>
            <a:ext cx="1371600" cy="0"/>
          </a:xfrm>
          <a:prstGeom prst="line">
            <a:avLst/>
          </a:prstGeom>
          <a:ln w="38100">
            <a:solidFill>
              <a:srgbClr val="C257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59" y="2267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</a:rPr>
              <a:t>再剩約 1/3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995160" y="3063240"/>
            <a:ext cx="1188720" cy="914399"/>
          </a:xfrm>
          <a:prstGeom prst="line">
            <a:avLst/>
          </a:prstGeom>
          <a:ln w="38100">
            <a:solidFill>
              <a:srgbClr val="C257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0" y="34289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</a:rPr>
              <a:t>車道少分得少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2377440"/>
            <a:ext cx="914400" cy="914400"/>
          </a:xfrm>
          <a:prstGeom prst="ellipse">
            <a:avLst/>
          </a:prstGeom>
          <a:solidFill>
            <a:srgbClr val="7F2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車禍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Oval 17"/>
          <p:cNvSpPr/>
          <p:nvPr/>
        </p:nvSpPr>
        <p:spPr>
          <a:xfrm>
            <a:off x="8206740" y="2446020"/>
            <a:ext cx="777240" cy="777240"/>
          </a:xfrm>
          <a:prstGeom prst="ellipse">
            <a:avLst/>
          </a:prstGeom>
          <a:solidFill>
            <a:srgbClr val="F7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37%</a:t>
            </a:r>
          </a:p>
        </p:txBody>
      </p:sp>
      <p:sp>
        <p:nvSpPr>
          <p:cNvPr id="19" name="Oval 18"/>
          <p:cNvSpPr/>
          <p:nvPr/>
        </p:nvSpPr>
        <p:spPr>
          <a:xfrm>
            <a:off x="6195060" y="2446020"/>
            <a:ext cx="777240" cy="777240"/>
          </a:xfrm>
          <a:prstGeom prst="ellipse">
            <a:avLst/>
          </a:prstGeom>
          <a:solidFill>
            <a:srgbClr val="FD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28%</a:t>
            </a:r>
          </a:p>
        </p:txBody>
      </p:sp>
      <p:sp>
        <p:nvSpPr>
          <p:cNvPr id="20" name="Oval 19"/>
          <p:cNvSpPr/>
          <p:nvPr/>
        </p:nvSpPr>
        <p:spPr>
          <a:xfrm>
            <a:off x="4000500" y="2446020"/>
            <a:ext cx="777240" cy="777240"/>
          </a:xfrm>
          <a:prstGeom prst="ellipse">
            <a:avLst/>
          </a:prstGeom>
          <a:solidFill>
            <a:srgbClr val="FDA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62626"/>
                </a:solidFill>
              </a:rPr>
              <a:t>10%</a:t>
            </a:r>
          </a:p>
        </p:txBody>
      </p:sp>
      <p:sp>
        <p:nvSpPr>
          <p:cNvPr id="21" name="Oval 20"/>
          <p:cNvSpPr/>
          <p:nvPr/>
        </p:nvSpPr>
        <p:spPr>
          <a:xfrm>
            <a:off x="6195060" y="3817620"/>
            <a:ext cx="777240" cy="777240"/>
          </a:xfrm>
          <a:prstGeom prst="ellipse">
            <a:avLst/>
          </a:prstGeom>
          <a:solidFill>
            <a:srgbClr val="FDB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62626"/>
                </a:solidFill>
              </a:rPr>
              <a:t>9%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670048" y="2834640"/>
            <a:ext cx="1307591" cy="0"/>
          </a:xfrm>
          <a:prstGeom prst="line">
            <a:avLst/>
          </a:prstGeom>
          <a:ln w="19050">
            <a:solidFill>
              <a:srgbClr val="C257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897380" y="2446020"/>
            <a:ext cx="777240" cy="777240"/>
          </a:xfrm>
          <a:prstGeom prst="ellipse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5F6F78"/>
                </a:solidFill>
              </a:rPr>
              <a:t>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264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F6F78"/>
                </a:solidFill>
              </a:rPr>
              <a:t>小於 5% 即停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773168" y="4206240"/>
            <a:ext cx="1399032" cy="0"/>
          </a:xfrm>
          <a:prstGeom prst="line">
            <a:avLst/>
          </a:prstGeom>
          <a:ln w="19050">
            <a:solidFill>
              <a:srgbClr val="C257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000500" y="3817620"/>
            <a:ext cx="777240" cy="777240"/>
          </a:xfrm>
          <a:prstGeom prst="ellipse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5F6F78"/>
                </a:solidFill>
              </a:rPr>
              <a:t>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6360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F6F78"/>
                </a:solidFill>
              </a:rPr>
              <a:t>小於 5% 即停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00200" y="52578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25780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E5369"/>
                </a:solidFill>
              </a:rPr>
              <a:t>影響逐段變小，小於 5% 即停止，因此不會無限擴散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F6F78"/>
                </a:solidFill>
              </a:rPr>
              <a:t>圓圈數字為影響強度，車禍處為 100%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正確性與適用範圍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45920"/>
            <a:ext cx="4892040" cy="3246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737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369"/>
                </a:solidFill>
              </a:rPr>
              <a:t>正確性驗證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兩種算法結果一致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刪除車禍後路網完全還原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封閉道路不會被重新開放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同一事件重複送出不重複計算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645920"/>
            <a:ext cx="4892040" cy="3246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C25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737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2571A"/>
                </a:solidFill>
              </a:rPr>
              <a:t>適用範圍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原方法保留，傳播為額外加上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適用車禍、施工、手動事件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只在主要道路上傳播</a:t>
            </a:r>
          </a:p>
          <a:p>
            <a:pPr algn="l"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0">
                <a:solidFill>
                  <a:srgbClr val="262626"/>
                </a:solidFill>
              </a:rPr>
              <a:t>為可選功能，需另外開啟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16636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51663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E5369"/>
                </a:solidFill>
              </a:rPr>
              <a:t>傳播距離依 164 件國道一號車禍的實際回堵資料校正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0"/>
              <a:t>介紹</a:t>
            </a:r>
          </a:p>
          <a:p>
            <a:pPr>
              <a:spcBef>
                <a:spcPts val="600"/>
              </a:spcBef>
            </a:pPr>
            <a:r>
              <a:rPr sz="3200" b="0"/>
              <a:t>系統流程</a:t>
            </a:r>
          </a:p>
          <a:p>
            <a:pPr>
              <a:spcBef>
                <a:spcPts val="600"/>
              </a:spcBef>
            </a:pPr>
            <a:r>
              <a:rPr sz="3200" b="0"/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路網切割</a:t>
            </a:r>
          </a:p>
          <a:p>
            <a:pPr>
              <a:spcBef>
                <a:spcPts val="600"/>
              </a:spcBef>
            </a:pPr>
            <a:r>
              <a:rPr sz="3200" b="0"/>
              <a:t>交通預測</a:t>
            </a:r>
          </a:p>
          <a:p>
            <a:pPr>
              <a:spcBef>
                <a:spcPts val="600"/>
              </a:spcBef>
            </a:pPr>
            <a:r>
              <a:rPr sz="3200" b="0"/>
              <a:t>成果展示</a:t>
            </a:r>
          </a:p>
          <a:p>
            <a:pPr>
              <a:spcBef>
                <a:spcPts val="600"/>
              </a:spcBef>
            </a:pPr>
            <a:r>
              <a:rPr sz="3200" b="0"/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95% 的點不是路口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7" name="Connector 6"/>
          <p:cNvCxnSpPr/>
          <p:nvPr/>
        </p:nvCxnSpPr>
        <p:spPr>
          <a:xfrm>
            <a:off x="2377440" y="2514600"/>
            <a:ext cx="500230" cy="184808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877670" y="2699408"/>
            <a:ext cx="500231" cy="88341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77901" y="2733512"/>
            <a:ext cx="500230" cy="54237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78131" y="2565006"/>
            <a:ext cx="500231" cy="168506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78362" y="2370189"/>
            <a:ext cx="500230" cy="194817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878592" y="2250751"/>
            <a:ext cx="500231" cy="119438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78823" y="2250751"/>
            <a:ext cx="500231" cy="18287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79054" y="2269038"/>
            <a:ext cx="500230" cy="146466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9284" y="2415504"/>
            <a:ext cx="500231" cy="198191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79515" y="2613695"/>
            <a:ext cx="500230" cy="146466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79745" y="2760161"/>
            <a:ext cx="500231" cy="18287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879976" y="2659010"/>
            <a:ext cx="500231" cy="119438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380207" y="2464193"/>
            <a:ext cx="500230" cy="194817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880437" y="2295687"/>
            <a:ext cx="500231" cy="168506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380668" y="2241450"/>
            <a:ext cx="500230" cy="54237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80898" y="2241450"/>
            <a:ext cx="500231" cy="88341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81129" y="2329791"/>
            <a:ext cx="500231" cy="184809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818234" y="2639972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18465" y="2728313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18695" y="2674076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8926" y="2505570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19156" y="2310753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19387" y="2191315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19618" y="2209602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19848" y="2356068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20079" y="2554259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20309" y="2700725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20540" y="2719012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20771" y="2599574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21001" y="2404757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21232" y="2236251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21462" y="2182014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21693" y="2270355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2084832" y="2258568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084832" y="2514600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249424" y="2386584"/>
            <a:ext cx="256032" cy="256032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0881360" y="2258568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81360" y="2514600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753344" y="2386584"/>
            <a:ext cx="256032" cy="256032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7360" y="17373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2571A"/>
                </a:solidFill>
              </a:rPr>
              <a:t>路口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17373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2571A"/>
                </a:solidFill>
              </a:rPr>
              <a:t>路口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3063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5F6F78"/>
                </a:solidFill>
              </a:rPr>
              <a:t>中間的點只用來描繪彎道，沒有岔路可選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3749039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400" b="0">
                <a:solidFill>
                  <a:srgbClr val="262626"/>
                </a:solidFill>
              </a:rPr>
              <a:t>找路時每經過一個點都要計算一次</a:t>
            </a:r>
          </a:p>
          <a:p>
            <a:pPr algn="l" marL="347472" indent="-347472">
              <a:spcBef>
                <a:spcPts val="1400"/>
              </a:spcBef>
              <a:buFont typeface="Wingdings" pitchFamily="2" charset="2"/>
              <a:buChar char="l"/>
            </a:pPr>
            <a:r>
              <a:rPr sz="2400" b="0">
                <a:solidFill>
                  <a:srgbClr val="262626"/>
                </a:solidFill>
              </a:rPr>
              <a:t>這些點沒有選擇，卻同樣耗費時間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00200" y="534924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00200" y="534924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2571A"/>
                </a:solidFill>
              </a:rPr>
              <a:t>問題在於地圖過細，而非找路方法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以路口切分路網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4592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分岔點規則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645920"/>
            <a:ext cx="7680960" cy="960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645920"/>
            <a:ext cx="7315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</a:rPr>
              <a:t>分岔超過一條路的點作為核心點，以核心點切分地圖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83464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雙向道問題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834640"/>
            <a:ext cx="7680960" cy="960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34640"/>
            <a:ext cx="7315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</a:rPr>
              <a:t>雙向道路中間的點也被視為分岔，幾乎每個點都成為核心點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402336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本組修正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4023360"/>
            <a:ext cx="7680960" cy="960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4023360"/>
            <a:ext cx="7315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</a:rPr>
              <a:t>只有真正的路口（三條路以上交會）與道路盡頭才是核心點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534924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34924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E5369"/>
                </a:solidFill>
              </a:rPr>
              <a:t>以路口為核心點切分，每一段就是兩個路口之間的道路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路口之間併成一段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00200" y="1691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併之前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901952"/>
            <a:ext cx="381896" cy="98564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82296" y="2000516"/>
            <a:ext cx="381896" cy="47115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964192" y="2018705"/>
            <a:ext cx="381897" cy="28926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46089" y="1928835"/>
            <a:ext cx="381896" cy="89870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727985" y="1824932"/>
            <a:ext cx="381897" cy="103903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109882" y="1761233"/>
            <a:ext cx="381896" cy="63699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91778" y="1761233"/>
            <a:ext cx="381897" cy="9753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73675" y="1770986"/>
            <a:ext cx="381896" cy="78114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55571" y="1849100"/>
            <a:ext cx="381897" cy="105703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37468" y="1954803"/>
            <a:ext cx="381896" cy="78114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19364" y="2032917"/>
            <a:ext cx="381897" cy="9753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01261" y="1978971"/>
            <a:ext cx="381896" cy="63699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83157" y="1875068"/>
            <a:ext cx="381897" cy="103903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165054" y="1785198"/>
            <a:ext cx="381896" cy="89870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546950" y="1756272"/>
            <a:ext cx="381897" cy="28926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28847" y="1756272"/>
            <a:ext cx="381896" cy="47115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10743" y="1803387"/>
            <a:ext cx="381897" cy="98565"/>
          </a:xfrm>
          <a:prstGeom prst="line">
            <a:avLst/>
          </a:prstGeom>
          <a:ln w="22225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522860" y="1941080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04756" y="1988195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86653" y="1959269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8549" y="1869399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50446" y="1765496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32342" y="1701797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14239" y="1711550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96135" y="1789664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78032" y="1895367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59928" y="1973481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41825" y="1983234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23721" y="1919535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05618" y="1815632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87514" y="1725762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9411" y="1696836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1307" y="1743951"/>
            <a:ext cx="118872" cy="118872"/>
          </a:xfrm>
          <a:prstGeom prst="ellipse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2907792" y="1645920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907792" y="1901952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072384" y="1773936"/>
            <a:ext cx="256032" cy="256032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9692640" y="1645920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92640" y="1901952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564624" y="1773936"/>
            <a:ext cx="256032" cy="256032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1691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17 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2788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併之後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00400" y="2999232"/>
            <a:ext cx="6492240" cy="0"/>
          </a:xfrm>
          <a:prstGeom prst="line">
            <a:avLst/>
          </a:prstGeom>
          <a:ln w="635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907792" y="2743200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907792" y="2999232"/>
            <a:ext cx="292608" cy="256031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072384" y="2871215"/>
            <a:ext cx="256032" cy="256032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9692640" y="2743200"/>
            <a:ext cx="292608" cy="256032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692640" y="2999232"/>
            <a:ext cx="292608" cy="256031"/>
          </a:xfrm>
          <a:prstGeom prst="line">
            <a:avLst/>
          </a:prstGeom>
          <a:ln w="25400">
            <a:solidFill>
              <a:srgbClr val="2E5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564624" y="2871215"/>
            <a:ext cx="256032" cy="256032"/>
          </a:xfrm>
          <a:prstGeom prst="ellipse">
            <a:avLst/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2571A"/>
                </a:solidFill>
              </a:rPr>
              <a:t>1 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3794760"/>
            <a:ext cx="9692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200" b="0">
                <a:solidFill>
                  <a:srgbClr val="262626"/>
                </a:solidFill>
              </a:rPr>
              <a:t>如同搭捷運只看停靠站，不必計算沿途每根電線桿</a:t>
            </a:r>
          </a:p>
          <a:p>
            <a:pPr algn="l" marL="347472" indent="-347472">
              <a:spcBef>
                <a:spcPts val="1400"/>
              </a:spcBef>
              <a:buFont typeface="Wingdings" pitchFamily="2" charset="2"/>
              <a:buChar char="l"/>
            </a:pPr>
            <a:r>
              <a:rPr sz="2200" b="0">
                <a:solidFill>
                  <a:srgbClr val="262626"/>
                </a:solidFill>
              </a:rPr>
              <a:t>找到路線後再展開回原本道路，地圖上的路線完全相同</a:t>
            </a:r>
          </a:p>
          <a:p>
            <a:pPr algn="l" marL="347472" indent="-347472">
              <a:spcBef>
                <a:spcPts val="1400"/>
              </a:spcBef>
              <a:buFont typeface="Wingdings" pitchFamily="2" charset="2"/>
              <a:buChar char="l"/>
            </a:pPr>
            <a:r>
              <a:rPr sz="2200" b="0">
                <a:solidFill>
                  <a:srgbClr val="262626"/>
                </a:solidFill>
              </a:rPr>
              <a:t>地圖上的點減少 22 倍，找路速度大幅提升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事件同步到簡化地圖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4_同步切割路網.png"/>
          <p:cNvPicPr>
            <a:picLocks noChangeAspect="1"/>
          </p:cNvPicPr>
          <p:nvPr/>
        </p:nvPicPr>
        <p:blipFill>
          <a:blip r:embed="rId2"/>
          <a:srcRect l="3600" r="39600" t="17600" b="6600"/>
          <a:stretch>
            <a:fillRect/>
          </a:stretch>
        </p:blipFill>
        <p:spPr>
          <a:xfrm>
            <a:off x="1600200" y="1600200"/>
            <a:ext cx="5852160" cy="4395181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26679" y="16916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橘色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車禍直接影響的道路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深色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所在路段整段同步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其他道路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完全不動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修正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刪除車禍後也會同步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找路速度的提升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91640"/>
            <a:ext cx="4892040" cy="128016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50 條隨機路線總耗時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185 秒 → 14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91640"/>
            <a:ext cx="4892040" cy="128016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台北 → 高雄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2.6 秒 → 0.1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200" b="0">
                <a:solidFill>
                  <a:srgbClr val="262626"/>
                </a:solidFill>
              </a:rPr>
              <a:t>路線越長，可跳過的點越多，節省的時間越多</a:t>
            </a:r>
          </a:p>
          <a:p>
            <a:pPr algn="l"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0">
                <a:solidFill>
                  <a:srgbClr val="262626"/>
                </a:solidFill>
              </a:rPr>
              <a:t>算出的路線與原系統完全相同</a:t>
            </a:r>
          </a:p>
          <a:p>
            <a:pPr algn="l"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0">
                <a:solidFill>
                  <a:srgbClr val="262626"/>
                </a:solidFill>
              </a:rPr>
              <a:t>原本長距離路線常算不完，現在全部成功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0"/>
              <a:t>介紹</a:t>
            </a:r>
          </a:p>
          <a:p>
            <a:pPr>
              <a:spcBef>
                <a:spcPts val="600"/>
              </a:spcBef>
            </a:pPr>
            <a:r>
              <a:rPr sz="3200" b="0"/>
              <a:t>系統流程</a:t>
            </a:r>
          </a:p>
          <a:p>
            <a:pPr>
              <a:spcBef>
                <a:spcPts val="600"/>
              </a:spcBef>
            </a:pPr>
            <a:r>
              <a:rPr sz="3200" b="0"/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0"/>
              <a:t>路網切割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交通預測</a:t>
            </a:r>
          </a:p>
          <a:p>
            <a:pPr>
              <a:spcBef>
                <a:spcPts val="600"/>
              </a:spcBef>
            </a:pPr>
            <a:r>
              <a:rPr sz="3200" b="0"/>
              <a:t>成果展示</a:t>
            </a:r>
          </a:p>
          <a:p>
            <a:pPr>
              <a:spcBef>
                <a:spcPts val="600"/>
              </a:spcBef>
            </a:pPr>
            <a:r>
              <a:rPr sz="3200" b="0"/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預計會塞就先繞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0020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如同出門前查看天氣預報：現在沒下雨，不代表 30 分鐘後不下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514600"/>
            <a:ext cx="6675120" cy="0"/>
          </a:xfrm>
          <a:prstGeom prst="line">
            <a:avLst/>
          </a:prstGeom>
          <a:ln w="25400">
            <a:solidFill>
              <a:srgbClr val="5F6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49624" y="2432304"/>
            <a:ext cx="164592" cy="164592"/>
          </a:xfrm>
          <a:prstGeom prst="ellipse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62626"/>
                </a:solidFill>
              </a:rPr>
              <a:t>現在出發</a:t>
            </a:r>
          </a:p>
        </p:txBody>
      </p:sp>
      <p:sp>
        <p:nvSpPr>
          <p:cNvPr id="11" name="Oval 10"/>
          <p:cNvSpPr/>
          <p:nvPr/>
        </p:nvSpPr>
        <p:spPr>
          <a:xfrm>
            <a:off x="10250424" y="2432304"/>
            <a:ext cx="164592" cy="164592"/>
          </a:xfrm>
          <a:prstGeom prst="ellipse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62626"/>
                </a:solidFill>
              </a:rPr>
              <a:t>30 分鐘後到達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37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F6F78"/>
                </a:solidFill>
              </a:rPr>
              <a:t>只看現況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0175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5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5F6F78"/>
                </a:solidFill>
              </a:rPr>
              <a:t>現在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該路段目前順暢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照原路線行駛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75120" y="3456432"/>
            <a:ext cx="1463040" cy="274320"/>
          </a:xfrm>
          <a:prstGeom prst="rightArrow">
            <a:avLst/>
          </a:prstGeom>
          <a:solidFill>
            <a:srgbClr val="5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30175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C25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C2571A"/>
                </a:solidFill>
              </a:rPr>
              <a:t>30 分鐘後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到達時已經塞住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困在車陣中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7091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本系統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3891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2E5369"/>
                </a:solidFill>
              </a:rPr>
              <a:t>現在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AI 預測該路段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30 分鐘後會塞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20" y="4828031"/>
            <a:ext cx="1463040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3891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2E7D4F"/>
                </a:solidFill>
              </a:rPr>
              <a:t>30 分鐘後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已改走其他道路</a:t>
            </a:r>
          </a:p>
          <a:p>
            <a:pPr algn="ctr">
              <a:spcBef>
                <a:spcPts val="400"/>
              </a:spcBef>
            </a:pPr>
            <a:r>
              <a:rPr sz="1700" b="0">
                <a:solidFill>
                  <a:srgbClr val="262626"/>
                </a:solidFill>
              </a:rPr>
              <a:t>順利通過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57150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571500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5369"/>
                </a:solidFill>
              </a:rPr>
              <a:t>預測結果同樣寫成「事件」，沿用相同的處理流程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訓練資料：國道真實車速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pred_1_國道路網.png"/>
          <p:cNvPicPr>
            <a:picLocks noChangeAspect="1"/>
          </p:cNvPicPr>
          <p:nvPr/>
        </p:nvPicPr>
        <p:blipFill>
          <a:blip r:embed="rId2"/>
          <a:srcRect l="13000" t="2000" b="2000"/>
          <a:stretch>
            <a:fillRect/>
          </a:stretch>
        </p:blipFill>
        <p:spPr>
          <a:xfrm>
            <a:off x="1828800" y="1463040"/>
            <a:ext cx="3749039" cy="5091534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72200" y="16916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資料來源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2000" b="0">
                <a:solidFill>
                  <a:srgbClr val="262626"/>
                </a:solidFill>
              </a:rPr>
              <a:t>高速公路局門架偵測的路段車速</a:t>
            </a:r>
          </a:p>
          <a:p>
            <a:pPr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範圍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2000" b="0">
                <a:solidFill>
                  <a:srgbClr val="262626"/>
                </a:solidFill>
              </a:rPr>
              <a:t>5 條國道、378 個路段</a:t>
            </a:r>
          </a:p>
          <a:p>
            <a:pPr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時間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2000" b="0">
                <a:solidFill>
                  <a:srgbClr val="262626"/>
                </a:solidFill>
              </a:rPr>
              <a:t>連續 3 週，每 5 分鐘一筆</a:t>
            </a:r>
          </a:p>
          <a:p>
            <a:pPr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200" b="1">
                <a:solidFill>
                  <a:srgbClr val="2E5369"/>
                </a:solidFill>
              </a:rPr>
              <a:t>路網關係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2000" b="0">
                <a:solidFill>
                  <a:srgbClr val="262626"/>
                </a:solidFill>
              </a:rPr>
              <a:t>前後相接的路段連成一張路網圖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T-GCN 模型架構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91640"/>
            <a:ext cx="1810512" cy="15544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輸入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過去 60 分鐘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車速與車流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29000" y="2331720"/>
            <a:ext cx="182880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48456" y="1691640"/>
            <a:ext cx="1810512" cy="15544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看上下游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圖卷積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參考相鄰路段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77256" y="2331720"/>
            <a:ext cx="182880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96712" y="1691640"/>
            <a:ext cx="1810512" cy="15544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保留自己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不讓鄰居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蓋過本身車速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25512" y="2331720"/>
            <a:ext cx="182880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44968" y="1691640"/>
            <a:ext cx="1810512" cy="15544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看時間變化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記住過去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一小時的趨勢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73768" y="2331720"/>
            <a:ext cx="182880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93224" y="1691640"/>
            <a:ext cx="1810512" cy="15544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C25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C2571A"/>
                </a:solidFill>
              </a:rPr>
              <a:t>輸出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5～30 分鐘後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的車速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11880"/>
            <a:ext cx="9692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看上下游（圖卷積）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上游塞了，等一下這裡也會塞，所以要參考相鄰路段</a:t>
            </a:r>
          </a:p>
          <a:p>
            <a:pPr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看時間變化（GRU）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同一段路有自己的規律，例如每天早上 7 點開始變慢</a:t>
            </a:r>
          </a:p>
          <a:p>
            <a:pPr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兩者合併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同時考慮「哪裡」和「何時」，比只看其中一項更準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模型訓練方式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00200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F6F78"/>
                </a:solidFill>
              </a:rPr>
              <a:t>5 月 10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F6F78"/>
                </a:solidFill>
              </a:rPr>
              <a:t>5 月 30 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874519"/>
            <a:ext cx="7004303" cy="731520"/>
          </a:xfrm>
          <a:prstGeom prst="roundRect">
            <a:avLst>
              <a:gd name="adj" fmla="val 8000"/>
            </a:avLst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訓練　約 15 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969264" cy="731520"/>
          </a:xfrm>
          <a:prstGeom prst="roundRect">
            <a:avLst>
              <a:gd name="adj" fmla="val 8000"/>
            </a:avLst>
          </a:prstGeom>
          <a:solidFill>
            <a:srgbClr val="C2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驗證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19" y="1874519"/>
            <a:ext cx="1975104" cy="7315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測試　約 4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26080"/>
            <a:ext cx="9692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訓練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用前 15 天的資料，讓模型學習車速變化的規律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驗證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每學完一輪就小考一次，成績不再進步就停止，避免死背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測試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最後 4 天完全沒給模型看過，用來公正評分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預測與實際車速比較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pred_2_預測與實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463040"/>
            <a:ext cx="9692640" cy="3624205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1600200" y="5224404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5224404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5369"/>
                </a:solidFill>
              </a:rPr>
              <a:t>AI 的預測比只看現在的車速更貼近實際；壅塞剛開始時仍會晚一點反應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預測準確度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600200" y="146304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002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F6F78"/>
                </a:solidFill>
              </a:rPr>
              <a:t>數字為平均誤差（公里/小時），越低越準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最準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每個時間點都是 AI 最準</a:t>
            </a:r>
          </a:p>
          <a:p>
            <a:pPr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30 分鐘後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平均只差約 3 公里/小時</a:t>
            </a:r>
          </a:p>
          <a:p>
            <a:pPr marL="347472" indent="-347472">
              <a:spcBef>
                <a:spcPts val="16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比只看現在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誤差少約兩成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預測結果寫成事件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0020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AI 預測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30 分鐘後的車速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9352" y="2057400"/>
            <a:ext cx="201168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160020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判斷壅塞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低於順暢時的 7 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47104" y="2057400"/>
            <a:ext cx="201168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75704" y="160020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寫成事件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預測壅塞事件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34856" y="2057400"/>
            <a:ext cx="201168" cy="274320"/>
          </a:xfrm>
          <a:prstGeom prst="rightArrow">
            <a:avLst/>
          </a:prstGeom>
          <a:solidFill>
            <a:srgbClr val="2E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3456" y="160020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C25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C2571A"/>
                </a:solidFill>
              </a:rPr>
              <a:t>自動改道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62626"/>
                </a:solidFill>
              </a:rPr>
              <a:t>避開將會塞的路段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546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相同流程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預測事件和車禍事件走同一套更新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實測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台北 → 基隆，預測會塞時自動改道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可還原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清除預測後完全回到原路線</a:t>
            </a:r>
          </a:p>
        </p:txBody>
      </p:sp>
      <p:pic>
        <p:nvPicPr>
          <p:cNvPr id="15" name="Picture 14" descr="p3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154680"/>
            <a:ext cx="5029200" cy="2572481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6294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F78"/>
                </a:solidFill>
              </a:rPr>
              <a:t>紫色圓圈：AI 預測將會塞的路段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即時預測流程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rminator 6"/>
          <p:cNvSpPr/>
          <p:nvPr/>
        </p:nvSpPr>
        <p:spPr>
          <a:xfrm>
            <a:off x="1737360" y="1691640"/>
            <a:ext cx="1783080" cy="64008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開始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啟動即時預測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691640"/>
            <a:ext cx="1783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補齊資料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抓過去 60 分鐘</a:t>
            </a:r>
          </a:p>
        </p:txBody>
      </p:sp>
      <p:sp>
        <p:nvSpPr>
          <p:cNvPr id="9" name="Data 8"/>
          <p:cNvSpPr/>
          <p:nvPr/>
        </p:nvSpPr>
        <p:spPr>
          <a:xfrm>
            <a:off x="5760720" y="1691640"/>
            <a:ext cx="1783080" cy="640080"/>
          </a:xfrm>
          <a:prstGeom prst="flowChartInputOutpu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即時車速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最新 5 分鐘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1783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AI 預測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30 分鐘後車速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1691640"/>
            <a:ext cx="1783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寫入事件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路線自動避開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20439" y="2011680"/>
            <a:ext cx="2286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2011680"/>
            <a:ext cx="2286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2011680"/>
            <a:ext cx="2286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2011680"/>
            <a:ext cx="2286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cision 15"/>
          <p:cNvSpPr/>
          <p:nvPr/>
        </p:nvSpPr>
        <p:spPr>
          <a:xfrm>
            <a:off x="9578340" y="2697480"/>
            <a:ext cx="2194560" cy="685800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EE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JhengHei"/>
                <a:ea typeface="Microsoft JhengHei"/>
              </a:rPr>
              <a:t>收到停止指令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75619" y="2331720"/>
            <a:ext cx="0" cy="36576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75619" y="3383280"/>
            <a:ext cx="0" cy="27432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48772" y="3364992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是</a:t>
            </a:r>
          </a:p>
        </p:txBody>
      </p:sp>
      <p:sp>
        <p:nvSpPr>
          <p:cNvPr id="20" name="Terminator 19"/>
          <p:cNvSpPr/>
          <p:nvPr/>
        </p:nvSpPr>
        <p:spPr>
          <a:xfrm>
            <a:off x="10126980" y="3657600"/>
            <a:ext cx="1097280" cy="384048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400" b="1">
                <a:solidFill>
                  <a:srgbClr val="262626"/>
                </a:solidFill>
                <a:latin typeface="Microsoft JhengHei"/>
                <a:ea typeface="Microsoft JhengHei"/>
              </a:rPr>
              <a:t>結束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652259" y="3040380"/>
            <a:ext cx="2926081" cy="0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52259" y="2331720"/>
            <a:ext cx="0" cy="70866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35140" y="2743200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icrosoft JhengHei"/>
                <a:ea typeface="Microsoft JhengHei"/>
              </a:rPr>
              <a:t>否：5 分鐘後再抓一次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97680"/>
            <a:ext cx="9692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啟動就能預測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先補齊過去一小時的資料，不必等一小時</a:t>
            </a:r>
          </a:p>
          <a:p>
            <a:pPr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持續更新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每 5 分鐘抓最新車速，預測結果直接反映到路線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模型持續更新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rminator 6"/>
          <p:cNvSpPr/>
          <p:nvPr/>
        </p:nvSpPr>
        <p:spPr>
          <a:xfrm>
            <a:off x="1737360" y="1645920"/>
            <a:ext cx="2103120" cy="6858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開始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定期執行（每天）</a:t>
            </a:r>
          </a:p>
        </p:txBody>
      </p:sp>
      <p:sp>
        <p:nvSpPr>
          <p:cNvPr id="8" name="Data 7"/>
          <p:cNvSpPr/>
          <p:nvPr/>
        </p:nvSpPr>
        <p:spPr>
          <a:xfrm>
            <a:off x="4206240" y="1645920"/>
            <a:ext cx="2103120" cy="685800"/>
          </a:xfrm>
          <a:prstGeom prst="flowChartInputOutpu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新資料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高公局每日車速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645920"/>
            <a:ext cx="2103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重新訓練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用全部累積的資料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645920"/>
            <a:ext cx="2103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公平比較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最新 3 天的資料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79" y="1988819"/>
            <a:ext cx="365761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09359" y="1988819"/>
            <a:ext cx="365761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1988819"/>
            <a:ext cx="36576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ecision 13"/>
          <p:cNvSpPr/>
          <p:nvPr/>
        </p:nvSpPr>
        <p:spPr>
          <a:xfrm>
            <a:off x="9098280" y="2651760"/>
            <a:ext cx="2194560" cy="731520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EE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400" b="1">
                <a:solidFill>
                  <a:srgbClr val="262626"/>
                </a:solidFill>
                <a:latin typeface="Microsoft JhengHei"/>
                <a:ea typeface="Microsoft JhengHei"/>
              </a:rPr>
              <a:t>新模型較準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95560" y="2331720"/>
            <a:ext cx="0" cy="32004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0" y="370332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換上新模型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舊版保留，可切回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95560" y="3383280"/>
            <a:ext cx="0" cy="32004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87000" y="3401568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69748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500" b="1">
                <a:solidFill>
                  <a:srgbClr val="262626"/>
                </a:solidFill>
                <a:latin typeface="Microsoft JhengHei"/>
                <a:ea typeface="Microsoft JhengHei"/>
              </a:rPr>
              <a:t>保留目前模型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Microsoft JhengHei"/>
                <a:ea typeface="Microsoft JhengHei"/>
              </a:rPr>
              <a:t>新模型不採用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778240" y="3017520"/>
            <a:ext cx="32004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0" y="2743200"/>
            <a:ext cx="320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JhengHei"/>
                <a:ea typeface="Microsoft JhengHei"/>
              </a:rPr>
              <a:t>否</a:t>
            </a:r>
          </a:p>
        </p:txBody>
      </p:sp>
      <p:sp>
        <p:nvSpPr>
          <p:cNvPr id="22" name="Terminator 21"/>
          <p:cNvSpPr/>
          <p:nvPr/>
        </p:nvSpPr>
        <p:spPr>
          <a:xfrm>
            <a:off x="6995159" y="3822191"/>
            <a:ext cx="1463040" cy="41148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244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400" b="1">
                <a:solidFill>
                  <a:srgbClr val="262626"/>
                </a:solidFill>
                <a:latin typeface="Microsoft JhengHei"/>
                <a:ea typeface="Microsoft JhengHei"/>
              </a:rPr>
              <a:t>結束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3337560"/>
            <a:ext cx="0" cy="484631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458200" y="4023360"/>
            <a:ext cx="685800" cy="0"/>
          </a:xfrm>
          <a:prstGeom prst="line">
            <a:avLst/>
          </a:prstGeom>
          <a:ln w="190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28800" y="4526280"/>
            <a:ext cx="9692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公平比較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用新、舊模型都沒看過的最新資料打分數，比較準才換上</a:t>
            </a:r>
          </a:p>
          <a:p>
            <a:pPr marL="347472" indent="-347472">
              <a:spcBef>
                <a:spcPts val="10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原始模型永久保留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任何時候都能切回，不會越更新越差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持續更新的實測結果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00200" y="16459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加入新資料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3 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預測誤差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降低約 1～2%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6459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測試的 3 天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每天都更準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9692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已經換上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新模型通過比較，系統自動改用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進步幅度不大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每天固定的塞車規律，原本 3 週資料就學得差不多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000" b="1">
                <a:solidFill>
                  <a:srgbClr val="2E5369"/>
                </a:solidFill>
              </a:rPr>
              <a:t>資料越多越有用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800" b="0">
                <a:solidFill>
                  <a:srgbClr val="262626"/>
                </a:solidFill>
              </a:rPr>
              <a:t>連假、颱風等少見狀況，要累積更久才學得到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異常偵測：自動發現事故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pred_3_異常偵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463040"/>
            <a:ext cx="9692640" cy="3624205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1600200" y="5224404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5224404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5369"/>
                </a:solidFill>
              </a:rPr>
              <a:t>沒教過什麼是事故，只靠「實際比預測慢很多」就抓到六成真實事故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用真實事故校正影響範圍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0020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</a:rPr>
              <a:t>分析 164 件國道一號真實事故前後的車速變化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19456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一般事故回堵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約 2 公里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219456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嚴重事故回堵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約 6 公里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19456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19050">
            <a:solidFill>
              <a:srgbClr val="2E5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2E5369"/>
                </a:solidFill>
              </a:rPr>
              <a:t>一半事故恢復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C2571A"/>
                </a:solidFill>
              </a:rPr>
              <a:t>25 分鐘內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4760"/>
            <a:ext cx="9692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>
              <a:spcBef>
                <a:spcPts val="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影響距離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決定車禍影響往後傳多遠（事件影響傳播一章）</a:t>
            </a:r>
          </a:p>
          <a:p>
            <a:pPr marL="347472" indent="-347472">
              <a:spcBef>
                <a:spcPts val="1200"/>
              </a:spcBef>
              <a:buFont typeface="Wingdings" pitchFamily="2" charset="2"/>
              <a:buChar char="l"/>
            </a:pPr>
            <a:r>
              <a:rPr sz="2100" b="1">
                <a:solidFill>
                  <a:srgbClr val="2E5369"/>
                </a:solidFill>
              </a:rPr>
              <a:t>影響強度</a:t>
            </a:r>
          </a:p>
          <a:p>
            <a:pPr marL="347472" indent="0">
              <a:spcBef>
                <a:spcPts val="200"/>
              </a:spcBef>
              <a:buNone/>
            </a:pPr>
            <a:r>
              <a:rPr sz="1900" b="0">
                <a:solidFill>
                  <a:srgbClr val="262626"/>
                </a:solidFill>
              </a:rPr>
              <a:t>確認系統設定的降速程度落在真實範圍內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0"/>
              <a:t>介紹</a:t>
            </a:r>
          </a:p>
          <a:p>
            <a:pPr>
              <a:spcBef>
                <a:spcPts val="600"/>
              </a:spcBef>
            </a:pPr>
            <a:r>
              <a:rPr sz="3200" b="0"/>
              <a:t>系統流程</a:t>
            </a:r>
          </a:p>
          <a:p>
            <a:pPr>
              <a:spcBef>
                <a:spcPts val="600"/>
              </a:spcBef>
            </a:pPr>
            <a:r>
              <a:rPr sz="3200" b="0"/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0"/>
              <a:t>路網切割</a:t>
            </a:r>
          </a:p>
          <a:p>
            <a:pPr>
              <a:spcBef>
                <a:spcPts val="600"/>
              </a:spcBef>
            </a:pPr>
            <a:r>
              <a:rPr sz="3200" b="0"/>
              <a:t>交通預測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成果展示</a:t>
            </a:r>
          </a:p>
          <a:p>
            <a:pPr>
              <a:spcBef>
                <a:spcPts val="600"/>
              </a:spcBef>
            </a:pPr>
            <a:r>
              <a:rPr sz="3200" b="0"/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展示影片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p3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554480"/>
            <a:ext cx="8229600" cy="4046421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60020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5369"/>
                </a:solidFill>
              </a:rPr>
              <a:t>https://youtu.be/-rbNGVx3yA0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實際操作畫面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00200" y="14173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5369"/>
                </a:solidFill>
              </a:rPr>
              <a:t>台北市區：平常</a:t>
            </a:r>
          </a:p>
        </p:txBody>
      </p:sp>
      <p:pic>
        <p:nvPicPr>
          <p:cNvPr id="8" name="Picture 7" descr="p4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28800"/>
            <a:ext cx="4206240" cy="2112376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66560" y="14173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5369"/>
                </a:solidFill>
              </a:rPr>
              <a:t>台北市區：出事後</a:t>
            </a:r>
          </a:p>
        </p:txBody>
      </p:sp>
      <p:pic>
        <p:nvPicPr>
          <p:cNvPr id="10" name="Picture 9" descr="p4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0"/>
            <a:ext cx="4206240" cy="2095921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600200" y="402335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5369"/>
                </a:solidFill>
              </a:rPr>
              <a:t>新竹郊區：平常</a:t>
            </a:r>
          </a:p>
        </p:txBody>
      </p:sp>
      <p:pic>
        <p:nvPicPr>
          <p:cNvPr id="12" name="Picture 11" descr="p4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434840"/>
            <a:ext cx="4206240" cy="1933431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0" y="402335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5369"/>
                </a:solidFill>
              </a:rPr>
              <a:t>新竹郊區：出事後</a:t>
            </a:r>
          </a:p>
        </p:txBody>
      </p:sp>
      <p:pic>
        <p:nvPicPr>
          <p:cNvPr id="14" name="Picture 13" descr="p4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434840"/>
            <a:ext cx="4206240" cy="1936597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範例車禍的完整處理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00200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① 影響範圍</a:t>
            </a:r>
          </a:p>
        </p:txBody>
      </p:sp>
      <p:pic>
        <p:nvPicPr>
          <p:cNvPr id="8" name="Picture 7" descr="7_事件沿上游傳播.png"/>
          <p:cNvPicPr>
            <a:picLocks noChangeAspect="1"/>
          </p:cNvPicPr>
          <p:nvPr/>
        </p:nvPicPr>
        <p:blipFill>
          <a:blip r:embed="rId2"/>
          <a:srcRect l="3600" r="39600" t="17600" b="6600"/>
          <a:stretch>
            <a:fillRect/>
          </a:stretch>
        </p:blipFill>
        <p:spPr>
          <a:xfrm>
            <a:off x="1600200" y="2011680"/>
            <a:ext cx="2377440" cy="1785542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600200" y="388866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</a:rPr>
              <a:t>沿國道往兩側後方傳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② 更新道路</a:t>
            </a:r>
          </a:p>
        </p:txBody>
      </p:sp>
      <p:pic>
        <p:nvPicPr>
          <p:cNvPr id="11" name="Picture 10" descr="3_更新範圍內路段.png"/>
          <p:cNvPicPr>
            <a:picLocks noChangeAspect="1"/>
          </p:cNvPicPr>
          <p:nvPr/>
        </p:nvPicPr>
        <p:blipFill>
          <a:blip r:embed="rId3"/>
          <a:srcRect l="3600" r="39600" t="17600" b="6600"/>
          <a:stretch>
            <a:fillRect/>
          </a:stretch>
        </p:blipFill>
        <p:spPr>
          <a:xfrm>
            <a:off x="4160520" y="2011680"/>
            <a:ext cx="2377440" cy="1785542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60520" y="388866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</a:rPr>
              <a:t>只改事故附近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③ 同步地圖</a:t>
            </a:r>
          </a:p>
        </p:txBody>
      </p:sp>
      <p:pic>
        <p:nvPicPr>
          <p:cNvPr id="14" name="Picture 13" descr="4_同步切割路網.png"/>
          <p:cNvPicPr>
            <a:picLocks noChangeAspect="1"/>
          </p:cNvPicPr>
          <p:nvPr/>
        </p:nvPicPr>
        <p:blipFill>
          <a:blip r:embed="rId4"/>
          <a:srcRect l="3600" r="39600" t="17600" b="6600"/>
          <a:stretch>
            <a:fillRect/>
          </a:stretch>
        </p:blipFill>
        <p:spPr>
          <a:xfrm>
            <a:off x="6720840" y="2011680"/>
            <a:ext cx="2377440" cy="1785542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720840" y="388866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</a:rPr>
              <a:t>只更新相關路段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369"/>
                </a:solidFill>
              </a:rPr>
              <a:t>④ 重新找路</a:t>
            </a:r>
          </a:p>
        </p:txBody>
      </p:sp>
      <p:pic>
        <p:nvPicPr>
          <p:cNvPr id="17" name="Picture 16" descr="5_路線反應.png"/>
          <p:cNvPicPr>
            <a:picLocks noChangeAspect="1"/>
          </p:cNvPicPr>
          <p:nvPr/>
        </p:nvPicPr>
        <p:blipFill>
          <a:blip r:embed="rId5"/>
          <a:srcRect l="3600" r="39600" t="17600" b="6600"/>
          <a:stretch>
            <a:fillRect/>
          </a:stretch>
        </p:blipFill>
        <p:spPr>
          <a:xfrm>
            <a:off x="9281159" y="2011680"/>
            <a:ext cx="2377440" cy="1785542"/>
          </a:xfrm>
          <a:prstGeom prst="rect">
            <a:avLst/>
          </a:prstGeom>
          <a:ln w="9525">
            <a:solidFill>
              <a:srgbClr val="B8C7C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9281159" y="388866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</a:rPr>
              <a:t>自動繞開車禍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493776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9377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5369"/>
                </a:solidFill>
              </a:rPr>
              <a:t>從車禍發生到路線改變，每一步只處理必要部分，合計不到 0.2 秒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400" b="1">
                <a:solidFill>
                  <a:srgbClr val="000000"/>
                </a:solidFill>
              </a:rP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0" y="1600200"/>
            <a:ext cx="6400800" cy="4572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sz="3200" b="0"/>
              <a:t>介紹</a:t>
            </a:r>
          </a:p>
          <a:p>
            <a:pPr>
              <a:spcBef>
                <a:spcPts val="600"/>
              </a:spcBef>
            </a:pPr>
            <a:r>
              <a:rPr sz="3200" b="0"/>
              <a:t>系統流程</a:t>
            </a:r>
          </a:p>
          <a:p>
            <a:pPr>
              <a:spcBef>
                <a:spcPts val="600"/>
              </a:spcBef>
            </a:pPr>
            <a:r>
              <a:rPr sz="3200" b="0"/>
              <a:t>事件影響傳播</a:t>
            </a:r>
          </a:p>
          <a:p>
            <a:pPr>
              <a:spcBef>
                <a:spcPts val="600"/>
              </a:spcBef>
            </a:pPr>
            <a:r>
              <a:rPr sz="3200" b="0"/>
              <a:t>路網切割</a:t>
            </a:r>
          </a:p>
          <a:p>
            <a:pPr>
              <a:spcBef>
                <a:spcPts val="600"/>
              </a:spcBef>
            </a:pPr>
            <a:r>
              <a:rPr sz="3200" b="0"/>
              <a:t>交通預測</a:t>
            </a:r>
          </a:p>
          <a:p>
            <a:pPr>
              <a:spcBef>
                <a:spcPts val="600"/>
              </a:spcBef>
            </a:pPr>
            <a:r>
              <a:rPr sz="3200" b="0"/>
              <a:t>成果展示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7030A0"/>
                </a:solidFill>
              </a:rPr>
              <a:t>結論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結論：與一般導航的差別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影響範圍：</a:t>
            </a:r>
            <a:r>
              <a:rPr sz="2600" b="0">
                <a:solidFill>
                  <a:srgbClr val="262626"/>
                </a:solidFill>
              </a:rPr>
              <a:t>沿道路往後傳播，由路網決定，不再是固定範圍。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即時更新：</a:t>
            </a:r>
            <a:r>
              <a:rPr sz="2600" b="0">
                <a:solidFill>
                  <a:srgbClr val="262626"/>
                </a:solidFill>
              </a:rPr>
              <a:t>只更新受影響道路，事件再多也能即時反映。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路網切割：</a:t>
            </a:r>
            <a:r>
              <a:rPr sz="2600" b="0">
                <a:solidFill>
                  <a:srgbClr val="262626"/>
                </a:solidFill>
              </a:rPr>
              <a:t>路口之間併成一段，找路更快且路線不變。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預測繞路：</a:t>
            </a:r>
            <a:r>
              <a:rPr sz="2600" b="0">
                <a:solidFill>
                  <a:srgbClr val="262626"/>
                </a:solidFill>
              </a:rPr>
              <a:t>預計會塞就提前繞道，並能協助偵測事故。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結論：系統效益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即時：</a:t>
            </a:r>
            <a:r>
              <a:rPr sz="2600" b="0">
                <a:solidFill>
                  <a:srgbClr val="262626"/>
                </a:solidFill>
              </a:rPr>
              <a:t>事件一發生，路線馬上跟著改變。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貼近真實：</a:t>
            </a:r>
            <a:r>
              <a:rPr sz="2600" b="0">
                <a:solidFill>
                  <a:srgbClr val="262626"/>
                </a:solidFill>
              </a:rPr>
              <a:t>影響範圍依真實車禍回堵資料校正。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快速：</a:t>
            </a:r>
            <a:r>
              <a:rPr sz="2600" b="0">
                <a:solidFill>
                  <a:srgbClr val="262626"/>
                </a:solidFill>
              </a:rPr>
              <a:t>長距離找路從算不完變成 1 秒內。</a:t>
            </a:r>
          </a:p>
          <a:p>
            <a:pPr algn="l">
              <a:spcBef>
                <a:spcPts val="2000"/>
              </a:spcBef>
              <a:buFont typeface="Wingdings" pitchFamily="2" charset="2"/>
              <a:buChar char="l"/>
            </a:pPr>
            <a:r>
              <a:rPr sz="2600" b="1">
                <a:solidFill>
                  <a:srgbClr val="262626"/>
                </a:solidFill>
              </a:rPr>
              <a:t>易擴充：</a:t>
            </a:r>
            <a:r>
              <a:rPr sz="2600" b="0">
                <a:solidFill>
                  <a:srgbClr val="262626"/>
                </a:solidFill>
              </a:rPr>
              <a:t>新資料寫成事件即可接上，不必改找路程式。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限制與未來方向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2400" b="1">
                <a:solidFill>
                  <a:srgbClr val="262626"/>
                </a:solidFill>
              </a:rPr>
              <a:t>可選功能：</a:t>
            </a:r>
            <a:r>
              <a:rPr sz="2400" b="0">
                <a:solidFill>
                  <a:srgbClr val="262626"/>
                </a:solidFill>
              </a:rPr>
              <a:t>影響傳播需另外開啟，並搭配路網切割使用。</a:t>
            </a:r>
          </a:p>
          <a:p>
            <a:pPr algn="l">
              <a:spcBef>
                <a:spcPts val="1600"/>
              </a:spcBef>
              <a:buFont typeface="Wingdings" pitchFamily="2" charset="2"/>
              <a:buChar char="l"/>
            </a:pPr>
            <a:r>
              <a:rPr sz="2400" b="1">
                <a:solidFill>
                  <a:srgbClr val="262626"/>
                </a:solidFill>
              </a:rPr>
              <a:t>事件方向：</a:t>
            </a:r>
            <a:r>
              <a:rPr sz="2400" b="0">
                <a:solidFill>
                  <a:srgbClr val="262626"/>
                </a:solidFill>
              </a:rPr>
              <a:t>目前無法得知事故方向，兩個方向都往後傳。</a:t>
            </a:r>
          </a:p>
          <a:p>
            <a:pPr algn="l">
              <a:spcBef>
                <a:spcPts val="1600"/>
              </a:spcBef>
              <a:buFont typeface="Wingdings" pitchFamily="2" charset="2"/>
              <a:buChar char="l"/>
            </a:pPr>
            <a:r>
              <a:rPr sz="2400" b="1">
                <a:solidFill>
                  <a:srgbClr val="262626"/>
                </a:solidFill>
              </a:rPr>
              <a:t>嚴重程度：</a:t>
            </a:r>
            <a:r>
              <a:rPr sz="2400" b="0">
                <a:solidFill>
                  <a:srgbClr val="262626"/>
                </a:solidFill>
              </a:rPr>
              <a:t>嚴重車禍回堵較長，未來可依嚴重程度調整。</a:t>
            </a:r>
          </a:p>
          <a:p>
            <a:pPr algn="l">
              <a:spcBef>
                <a:spcPts val="1600"/>
              </a:spcBef>
              <a:buFont typeface="Wingdings" pitchFamily="2" charset="2"/>
              <a:buChar char="l"/>
            </a:pPr>
            <a:r>
              <a:rPr sz="2400" b="1">
                <a:solidFill>
                  <a:srgbClr val="262626"/>
                </a:solidFill>
              </a:rPr>
              <a:t>刪除生效：</a:t>
            </a:r>
            <a:r>
              <a:rPr sz="2400" b="0">
                <a:solidFill>
                  <a:srgbClr val="262626"/>
                </a:solidFill>
              </a:rPr>
              <a:t>刪除事件需等下一次全台路況更新（最多 5 分鐘）。</a:t>
            </a:r>
          </a:p>
          <a:p>
            <a:pPr algn="l">
              <a:spcBef>
                <a:spcPts val="1600"/>
              </a:spcBef>
              <a:buFont typeface="Wingdings" pitchFamily="2" charset="2"/>
              <a:buChar char="l"/>
            </a:pPr>
            <a:r>
              <a:rPr sz="2400" b="1">
                <a:solidFill>
                  <a:srgbClr val="262626"/>
                </a:solidFill>
              </a:rPr>
              <a:t>平行運算：</a:t>
            </a:r>
            <a:r>
              <a:rPr sz="2400" b="0">
                <a:solidFill>
                  <a:srgbClr val="262626"/>
                </a:solidFill>
              </a:rPr>
              <a:t>未來可加入多核心平行處理，進一步加速。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參考文獻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sz="2000" b="1">
                <a:solidFill>
                  <a:srgbClr val="2E5369"/>
                </a:solidFill>
              </a:rPr>
              <a:t>成本因子依據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FHWA. (2025). Highway Capacity Manual, Ed. 7.1. 事件延遲、號誌延遲。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Agarwal, M., et al. (2005). Weather Impact on Freeway Speed and Capacity.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NHTSA. (2008). Nighttime Driving: 25% of miles, 50% of fatalities.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FHWA. Speed and Capacity for Work Zones. 施工乘數 ×1.55。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Webster, F. V. (1958). Traffic Signal Settings. HCM Ch.19 號誌延遲。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Tandfonline. (2017). Landslide Risk Assessment in Taiwan.</a:t>
            </a:r>
          </a:p>
          <a:p>
            <a:pPr>
              <a:spcBef>
                <a:spcPts val="1400"/>
              </a:spcBef>
              <a:buNone/>
            </a:pPr>
            <a:r>
              <a:rPr sz="2000" b="1">
                <a:solidFill>
                  <a:srgbClr val="2E5369"/>
                </a:solidFill>
              </a:rPr>
              <a:t>資料來源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交通部 TDX 運輸資料流通服務平台：車速偵測器、路況新聞 API。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中央氣象署開放資料平台：氣象站、雨量站 API。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高公局 TDCS M05A、ETag：訓練、即時預測與事故回堵資料。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參考文獻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sz="2000" b="1">
                <a:solidFill>
                  <a:srgbClr val="2E5369"/>
                </a:solidFill>
              </a:rPr>
              <a:t>事件傳播與路網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Andersen, R., Chung, F., &amp; Lang, K. (2006). Local Graph Partitioning using PageRank Vectors. FOCS. 殘差推送。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Jenelius, E., et al. (2006). Importance and Exposure in Road Network Vulnerability.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Mattsson, L.-G., &amp; Jenelius, E. (2015). Vulnerability and Resilience of Transport Systems.</a:t>
            </a:r>
          </a:p>
          <a:p>
            <a:pPr>
              <a:spcBef>
                <a:spcPts val="1400"/>
              </a:spcBef>
              <a:buNone/>
            </a:pPr>
            <a:r>
              <a:rPr sz="2000" b="1">
                <a:solidFill>
                  <a:srgbClr val="2E5369"/>
                </a:solidFill>
              </a:rPr>
              <a:t>交通預測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Kipf, T. N., &amp; Welling, M. (2016). Semi-Supervised Classification with GCN. arXiv:1609.02907.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</a:pPr>
            <a:r>
              <a:rPr sz="1600" b="0">
                <a:solidFill>
                  <a:srgbClr val="262626"/>
                </a:solidFill>
              </a:rPr>
              <a:t>Zhao, L., et al. (2019). T-GCN: A Temporal Graph Convolutional Network for Traffic Prediction. IEEE T-ITS.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438912"/>
            <a:ext cx="9966960" cy="100584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</a:rPr>
              <a:t>備用：公式與複雜度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00200"/>
            <a:ext cx="10058400" cy="4572000"/>
          </a:xfrm>
        </p:spPr>
        <p:txBody>
          <a:bodyPr wrap="square"/>
          <a:lstStyle/>
          <a:p>
            <a:pPr algn="l">
              <a:spcBef>
                <a:spcPts val="0"/>
              </a:spcBef>
              <a:buFont typeface="Wingdings" pitchFamily="2" charset="2"/>
              <a:buChar char="l"/>
            </a:pPr>
            <a:r>
              <a:rPr sz="1900" b="1">
                <a:solidFill>
                  <a:srgbClr val="262626"/>
                </a:solidFill>
              </a:rPr>
              <a:t>路段成本：</a:t>
            </a:r>
            <a:r>
              <a:rPr sz="1900" b="0">
                <a:solidFill>
                  <a:srgbClr val="262626"/>
                </a:solidFill>
              </a:rPr>
              <a:t>行車時間 × (時間權重 + 風險 × 風險權重) + 轉彎等待 + 紅綠燈等待</a:t>
            </a:r>
          </a:p>
          <a:p>
            <a:pPr algn="l">
              <a:spcBef>
                <a:spcPts val="1400"/>
              </a:spcBef>
              <a:buFont typeface="Wingdings" pitchFamily="2" charset="2"/>
              <a:buChar char="l"/>
            </a:pPr>
            <a:r>
              <a:rPr sz="1900" b="1">
                <a:solidFill>
                  <a:srgbClr val="262626"/>
                </a:solidFill>
              </a:rPr>
              <a:t>A*：</a:t>
            </a:r>
            <a:r>
              <a:rPr sz="1900" b="0">
                <a:solidFill>
                  <a:srgbClr val="262626"/>
                </a:solidFill>
              </a:rPr>
              <a:t>f = g + h；h = 直線距離 ÷ 120 km/h（不高估，找到最佳解）</a:t>
            </a:r>
          </a:p>
          <a:p>
            <a:pPr algn="l">
              <a:spcBef>
                <a:spcPts val="1400"/>
              </a:spcBef>
              <a:buFont typeface="Wingdings" pitchFamily="2" charset="2"/>
              <a:buChar char="l"/>
            </a:pPr>
            <a:r>
              <a:rPr sz="1900" b="1">
                <a:solidFill>
                  <a:srgbClr val="262626"/>
                </a:solidFill>
              </a:rPr>
              <a:t>往上游傳播：</a:t>
            </a:r>
            <a:r>
              <a:rPr sz="1900" b="0">
                <a:solidFill>
                  <a:srgbClr val="262626"/>
                </a:solidFill>
              </a:rPr>
              <a:t>r = r₀ + B·r，B[P, L] = 車道比例 × exp(−長度 ÷ 2.5 km)；殘差推送求解，低於 0.05 停</a:t>
            </a:r>
          </a:p>
          <a:p>
            <a:pPr algn="l">
              <a:spcBef>
                <a:spcPts val="1400"/>
              </a:spcBef>
              <a:buFont typeface="Wingdings" pitchFamily="2" charset="2"/>
              <a:buChar char="l"/>
            </a:pPr>
            <a:r>
              <a:rPr sz="1900" b="1">
                <a:solidFill>
                  <a:srgbClr val="262626"/>
                </a:solidFill>
              </a:rPr>
              <a:t>套用：</a:t>
            </a:r>
            <a:r>
              <a:rPr sz="1900" b="0">
                <a:solidFill>
                  <a:srgbClr val="262626"/>
                </a:solidFill>
              </a:rPr>
              <a:t>時間乘數 = 1 + (m₀ − 1)·x，x 為路段影響強度，m₀ = 嚴重度 × 事件乘數</a:t>
            </a:r>
          </a:p>
          <a:p>
            <a:pPr algn="l">
              <a:spcBef>
                <a:spcPts val="1400"/>
              </a:spcBef>
              <a:buFont typeface="Wingdings" pitchFamily="2" charset="2"/>
              <a:buChar char="l"/>
            </a:pPr>
            <a:r>
              <a:rPr sz="1900" b="1">
                <a:solidFill>
                  <a:srgbClr val="262626"/>
                </a:solidFill>
              </a:rPr>
              <a:t>複雜度：</a:t>
            </a:r>
            <a:r>
              <a:rPr sz="1900" b="0">
                <a:solidFill>
                  <a:srgbClr val="262626"/>
                </a:solidFill>
              </a:rPr>
              <a:t>k 個事件更新 O(k·m)；找路 O(E log E)，與事件數無關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0412" y="6492875"/>
            <a:ext cx="7797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260CF35-1839-4056-A862-9B00495854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1256</TotalTime>
  <Words>2009</Words>
  <Application>Microsoft Office PowerPoint</Application>
  <PresentationFormat>寬螢幕</PresentationFormat>
  <Paragraphs>157</Paragraphs>
  <Slides>25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5" baseType="lpstr">
      <vt:lpstr>Noto Sans TC</vt:lpstr>
      <vt:lpstr>SimSun</vt:lpstr>
      <vt:lpstr>新細明體</vt:lpstr>
      <vt:lpstr>標楷體</vt:lpstr>
      <vt:lpstr>Arial</vt:lpstr>
      <vt:lpstr>Calibri</vt:lpstr>
      <vt:lpstr>Times New Roman</vt:lpstr>
      <vt:lpstr>Wingdings</vt:lpstr>
      <vt:lpstr>Wingdings 3</vt:lpstr>
      <vt:lpstr>絲縷</vt:lpstr>
      <vt:lpstr>中醫智慧辨證與診斷輔助系統 Intelligent Traditional Chinese Medicine Syndrome Differentiation and Diagnostic Support System</vt:lpstr>
      <vt:lpstr>大綱</vt:lpstr>
      <vt:lpstr>大綱</vt:lpstr>
      <vt:lpstr>研究動機</vt:lpstr>
      <vt:lpstr>研究目的 </vt:lpstr>
      <vt:lpstr>大綱</vt:lpstr>
      <vt:lpstr>系統架構圖</vt:lpstr>
      <vt:lpstr>前端輸入與 AI 四診特徵前處理 1</vt:lpstr>
      <vt:lpstr>前端輸入與 AI 四診特徵前處理 2</vt:lpstr>
      <vt:lpstr>AI 核心輸出：四大臨床輔助預測維度 1</vt:lpstr>
      <vt:lpstr>AI 核心輸出：四大臨床輔助預測維度 2</vt:lpstr>
      <vt:lpstr>Human-in-the-Loop 醫師雙軌決策與標籤對齊 1</vt:lpstr>
      <vt:lpstr>Human-in-the-Loop 醫師雙軌決策與標籤對齊 2</vt:lpstr>
      <vt:lpstr>大綱</vt:lpstr>
      <vt:lpstr>模型優化流程</vt:lpstr>
      <vt:lpstr>回診反饋收集與 AI 高品質訓練資料彙整 </vt:lpstr>
      <vt:lpstr>離線 AI 重訓、驗證與 權重自動部署</vt:lpstr>
      <vt:lpstr>AI 賦能閉環系統核心優勢與關鍵指標 </vt:lpstr>
      <vt:lpstr>大綱</vt:lpstr>
      <vt:lpstr>展示影片</vt:lpstr>
      <vt:lpstr>大綱</vt:lpstr>
      <vt:lpstr>結論：系統架構三大核心技術突破 </vt:lpstr>
      <vt:lpstr>結論：傳統中醫現代化的戰略效益 </vt:lpstr>
      <vt:lpstr>參考文獻 1</vt:lpstr>
      <vt:lpstr>參考文獻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中醫智慧辨證與診斷輔助系統 Intelligent Traditional Chinese Medicine Syndrome Differentiation and Diagnostic Support System</dc:title>
  <dc:creator>諭昌 楊</dc:creator>
  <cp:lastModifiedBy>chi-chou GAO</cp:lastModifiedBy>
  <cp:revision>41</cp:revision>
  <dcterms:created xsi:type="dcterms:W3CDTF">2026-06-11T16:04:01Z</dcterms:created>
  <dcterms:modified xsi:type="dcterms:W3CDTF">2026-09-14T02:05:32Z</dcterms:modified>
</cp:coreProperties>
</file>