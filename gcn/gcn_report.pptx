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103120"/>
            <a:ext cx="1463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1A1A1A"/>
                </a:solidFill>
                <a:latin typeface="Microsoft JhengHei"/>
              </a:defRPr>
            </a:pPr>
            <a:r>
              <a:t>圖卷積神經網路加速方法之軟體實作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566160"/>
            <a:ext cx="1463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1A1A1A"/>
                </a:solidFill>
                <a:latin typeface="Microsoft JhengHei"/>
              </a:defRPr>
            </a:pPr>
            <a:r>
              <a:t>與交通預測應用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48640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666666"/>
                </a:solidFill>
                <a:latin typeface="Microsoft JhengHei"/>
              </a:defRPr>
            </a:pPr>
            <a:r>
              <a:t>於台灣 OSM 動態導航系統之整合（計畫書表 CM03）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685800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  <a:latin typeface="Microsoft JhengHei"/>
              </a:defRPr>
            </a:pPr>
            <a:r>
              <a:t>PyTorch 2.11 / CUDA 12.8　·　分支 gcn-implementation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6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大綱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0" y="94183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BBBBB"/>
                </a:solidFill>
                <a:latin typeface="Microsoft JhengHe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1097280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Bef>
                <a:spcPts val="1300"/>
              </a:spcBef>
              <a:defRPr sz="2600" b="0">
                <a:solidFill>
                  <a:srgbClr val="FFFFFF"/>
                </a:solidFill>
                <a:latin typeface="Microsoft JhengHei"/>
              </a:defRPr>
            </a:pPr>
            <a:r>
              <a:t>  一、計畫書問題回顧</a:t>
            </a:r>
          </a:p>
          <a:p>
            <a:pPr>
              <a:spcBef>
                <a:spcPts val="1300"/>
              </a:spcBef>
              <a:defRPr sz="2600" b="0">
                <a:solidFill>
                  <a:srgbClr val="FFFFFF"/>
                </a:solidFill>
                <a:latin typeface="Microsoft JhengHei"/>
              </a:defRPr>
            </a:pPr>
            <a:r>
              <a:t>  二、實驗一：GCN 正確性驗證（表二資料集）</a:t>
            </a:r>
          </a:p>
          <a:p>
            <a:pPr>
              <a:spcBef>
                <a:spcPts val="1300"/>
              </a:spcBef>
              <a:defRPr sz="2600" b="0">
                <a:solidFill>
                  <a:srgbClr val="FFFFFF"/>
                </a:solidFill>
                <a:latin typeface="Microsoft JhengHei"/>
              </a:defRPr>
            </a:pPr>
            <a:r>
              <a:t>  三、實驗二：子圖分割 + 增量 PageRank + 直接相依（計畫書核心）</a:t>
            </a:r>
          </a:p>
          <a:p>
            <a:pPr>
              <a:spcBef>
                <a:spcPts val="1300"/>
              </a:spcBef>
              <a:defRPr sz="2600" b="0">
                <a:solidFill>
                  <a:srgbClr val="FFFFFF"/>
                </a:solidFill>
                <a:latin typeface="Microsoft JhengHei"/>
              </a:defRPr>
            </a:pPr>
            <a:r>
              <a:t>  四、實驗三：稀疏矩陣乘法優化</a:t>
            </a:r>
          </a:p>
          <a:p>
            <a:pPr>
              <a:spcBef>
                <a:spcPts val="1300"/>
              </a:spcBef>
              <a:defRPr sz="2600" b="0">
                <a:solidFill>
                  <a:srgbClr val="FFFFFF"/>
                </a:solidFill>
                <a:latin typeface="Microsoft JhengHei"/>
              </a:defRPr>
            </a:pPr>
            <a:r>
              <a:t>  五、實驗四：T-GCN 交通時空預測（真實高公局資料）</a:t>
            </a:r>
          </a:p>
          <a:p>
            <a:pPr>
              <a:spcBef>
                <a:spcPts val="1300"/>
              </a:spcBef>
              <a:defRPr sz="2600" b="0">
                <a:solidFill>
                  <a:srgbClr val="FFFFFF"/>
                </a:solidFill>
                <a:latin typeface="Microsoft JhengHei"/>
              </a:defRPr>
            </a:pPr>
            <a:r>
              <a:t>  六、實驗五：異常偵測驗證與事件衝擊校準（真實事故 ground truth）</a:t>
            </a:r>
          </a:p>
          <a:p>
            <a:pPr>
              <a:spcBef>
                <a:spcPts val="1300"/>
              </a:spcBef>
              <a:defRPr sz="2600" b="0">
                <a:solidFill>
                  <a:srgbClr val="FFFFFF"/>
                </a:solidFill>
                <a:latin typeface="Microsoft JhengHei"/>
              </a:defRPr>
            </a:pPr>
            <a:r>
              <a:t>  七、系統整合與新舊對比</a:t>
            </a:r>
          </a:p>
          <a:p>
            <a:pPr>
              <a:spcBef>
                <a:spcPts val="1300"/>
              </a:spcBef>
              <a:defRPr sz="2600" b="0">
                <a:solidFill>
                  <a:srgbClr val="FFFFFF"/>
                </a:solidFill>
                <a:latin typeface="Microsoft JhengHei"/>
              </a:defRPr>
            </a:pPr>
            <a:r>
              <a:t>  八、結論與未來工作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6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關鍵成果一頁看完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0" y="94183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BBBBB"/>
                </a:solidFill>
                <a:latin typeface="Microsoft JhengHei"/>
              </a:defRPr>
            </a:pPr>
            <a:r>
              <a:t>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5120640" cy="2103120"/>
          </a:xfrm>
          <a:prstGeom prst="roundRect">
            <a:avLst/>
          </a:prstGeom>
          <a:solidFill>
            <a:srgbClr val="005A6A"/>
          </a:solidFill>
          <a:ln w="25400">
            <a:solidFill>
              <a:srgbClr val="00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00FFAA"/>
                </a:solidFill>
                <a:latin typeface="Microsoft JhengHei"/>
              </a:defRPr>
            </a:pPr>
            <a:r>
              <a:t>1,880×</a:t>
            </a:r>
          </a:p>
          <a:p>
            <a:pPr algn="ctr">
              <a:defRPr sz="1500">
                <a:solidFill>
                  <a:srgbClr val="BBBBBB"/>
                </a:solidFill>
                <a:latin typeface="Microsoft JhengHei"/>
              </a:defRPr>
            </a:pPr>
            <a:r>
              <a:t>增量傳播節點觸碰削減（ogbn-arxiv 17 萬節點）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828800"/>
            <a:ext cx="5120640" cy="2103120"/>
          </a:xfrm>
          <a:prstGeom prst="roundRect">
            <a:avLst/>
          </a:prstGeom>
          <a:solidFill>
            <a:srgbClr val="005A6A"/>
          </a:solidFill>
          <a:ln w="25400">
            <a:solidFill>
              <a:srgbClr val="00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00FFAA"/>
                </a:solidFill>
                <a:latin typeface="Microsoft JhengHei"/>
              </a:defRPr>
            </a:pPr>
            <a:r>
              <a:t>0.41 ms</a:t>
            </a:r>
          </a:p>
          <a:p>
            <a:pPr algn="ctr">
              <a:defRPr sz="1500">
                <a:solidFill>
                  <a:srgbClr val="BBBBBB"/>
                </a:solidFill>
                <a:latin typeface="Microsoft JhengHei"/>
              </a:defRPr>
            </a:pPr>
            <a:r>
              <a:t>直接相依 flag 快取命中 vs 全圖重算 703 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252960" y="1828800"/>
            <a:ext cx="5120640" cy="2103120"/>
          </a:xfrm>
          <a:prstGeom prst="roundRect">
            <a:avLst/>
          </a:prstGeom>
          <a:solidFill>
            <a:srgbClr val="005A6A"/>
          </a:solidFill>
          <a:ln w="25400">
            <a:solidFill>
              <a:srgbClr val="00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00FFAA"/>
                </a:solidFill>
                <a:latin typeface="Microsoft JhengHei"/>
              </a:defRPr>
            </a:pPr>
            <a:r>
              <a:t>1.88 km/h</a:t>
            </a:r>
          </a:p>
          <a:p>
            <a:pPr algn="ctr">
              <a:defRPr sz="1500">
                <a:solidFill>
                  <a:srgbClr val="BBBBBB"/>
                </a:solidFill>
                <a:latin typeface="Microsoft JhengHei"/>
              </a:defRPr>
            </a:pPr>
            <a:r>
              <a:t>T-GCN 車速預測 MAE@5min 勝過全部 baseline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4754880"/>
            <a:ext cx="5120640" cy="2103120"/>
          </a:xfrm>
          <a:prstGeom prst="roundRect">
            <a:avLst/>
          </a:prstGeom>
          <a:solidFill>
            <a:srgbClr val="005A6A"/>
          </a:solidFill>
          <a:ln w="25400">
            <a:solidFill>
              <a:srgbClr val="00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B388FF"/>
                </a:solidFill>
                <a:latin typeface="Microsoft JhengHei"/>
              </a:defRPr>
            </a:pPr>
            <a:r>
              <a:t>61%</a:t>
            </a:r>
          </a:p>
          <a:p>
            <a:pPr algn="ctr">
              <a:defRPr sz="1500">
                <a:solidFill>
                  <a:srgbClr val="BBBBBB"/>
                </a:solidFill>
                <a:latin typeface="Microsoft JhengHei"/>
              </a:defRPr>
            </a:pPr>
            <a:r>
              <a:t>事故自動偵測 recall（無監督，隨機基準 5.7×）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4754880"/>
            <a:ext cx="5120640" cy="2103120"/>
          </a:xfrm>
          <a:prstGeom prst="roundRect">
            <a:avLst/>
          </a:prstGeom>
          <a:solidFill>
            <a:srgbClr val="005A6A"/>
          </a:solidFill>
          <a:ln w="25400">
            <a:solidFill>
              <a:srgbClr val="00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B388FF"/>
                </a:solidFill>
                <a:latin typeface="Microsoft JhengHei"/>
              </a:defRPr>
            </a:pPr>
            <a:r>
              <a:t>164 件</a:t>
            </a:r>
          </a:p>
          <a:p>
            <a:pPr algn="ctr">
              <a:defRPr sz="1500">
                <a:solidFill>
                  <a:srgbClr val="BBBBBB"/>
                </a:solidFill>
                <a:latin typeface="Microsoft JhengHei"/>
              </a:defRPr>
            </a:pPr>
            <a:r>
              <a:t>真實事故實測，校準事件衝擊參數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7589520"/>
            <a:ext cx="1554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AACC"/>
                </a:solidFill>
                <a:latin typeface="Microsoft JhengHei"/>
              </a:defRPr>
            </a:pPr>
            <a:r>
              <a:t>計畫書軟體方法全數實作並獲數據驗證 — p.8 全部評估指標（MAE、精確度、召回率）都有實測數據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6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計畫書問題回顧（表 CM03）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0" y="94183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BBBBB"/>
                </a:solidFill>
                <a:latin typeface="Microsoft JhengHei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1554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Bef>
                <a:spcPts val="800"/>
              </a:spcBef>
              <a:defRPr sz="2400" b="1">
                <a:solidFill>
                  <a:srgbClr val="00AACC"/>
                </a:solidFill>
                <a:latin typeface="Microsoft JhengHei"/>
              </a:defRPr>
            </a:pPr>
            <a:r>
              <a:t>GCN 計算三大瓶頸（計畫書 p.1）</a:t>
            </a:r>
          </a:p>
          <a:p>
            <a:pPr>
              <a:spcBef>
                <a:spcPts val="800"/>
              </a:spcBef>
              <a:defRPr sz="2000" b="0">
                <a:solidFill>
                  <a:srgbClr val="BBBBBB"/>
                </a:solidFill>
                <a:latin typeface="Microsoft JhengHei"/>
              </a:defRPr>
            </a:pPr>
            <a:r>
              <a:t>1. 節點狀態沿傳播鏈逐點更新 — 鏈越長成本越高，且需高度同步</a:t>
            </a:r>
          </a:p>
          <a:p>
            <a:pPr>
              <a:spcBef>
                <a:spcPts val="800"/>
              </a:spcBef>
              <a:defRPr sz="2000" b="0">
                <a:solidFill>
                  <a:srgbClr val="BBBBBB"/>
                </a:solidFill>
                <a:latin typeface="Microsoft JhengHei"/>
              </a:defRPr>
            </a:pPr>
            <a:r>
              <a:t>2. 節點分支度差異 → 工作負載不平衡（v5 六個鄰居 vs v4 一個）</a:t>
            </a:r>
          </a:p>
          <a:p>
            <a:pPr>
              <a:spcBef>
                <a:spcPts val="800"/>
              </a:spcBef>
              <a:defRPr sz="2000" b="0">
                <a:solidFill>
                  <a:srgbClr val="BBBBBB"/>
                </a:solidFill>
                <a:latin typeface="Microsoft JhengHei"/>
              </a:defRPr>
            </a:pPr>
            <a:r>
              <a:t>3. 鄰居資料分散 → 記憶體存取不規則（cache miss / page swap）</a:t>
            </a:r>
          </a:p>
          <a:p>
            <a:pPr>
              <a:spcBef>
                <a:spcPts val="800"/>
              </a:spcBef>
              <a:defRPr sz="8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Bef>
                <a:spcPts val="800"/>
              </a:spcBef>
              <a:defRPr sz="2400" b="1">
                <a:solidFill>
                  <a:srgbClr val="00AACC"/>
                </a:solidFill>
                <a:latin typeface="Microsoft JhengHei"/>
              </a:defRPr>
            </a:pPr>
            <a:r>
              <a:t>計畫書解法</a:t>
            </a:r>
          </a:p>
          <a:p>
            <a:pPr>
              <a:spcBef>
                <a:spcPts val="800"/>
              </a:spcBef>
              <a:defRPr sz="2000" b="0">
                <a:solidFill>
                  <a:srgbClr val="BBBBBB"/>
                </a:solidFill>
                <a:latin typeface="Microsoft JhengHei"/>
              </a:defRPr>
            </a:pPr>
            <a:r>
              <a:t>• out-degree &gt; 1 核心節點分割子圖（p.2）</a:t>
            </a:r>
          </a:p>
          <a:p>
            <a:pPr>
              <a:spcBef>
                <a:spcPts val="800"/>
              </a:spcBef>
              <a:defRPr sz="2000" b="0">
                <a:solidFill>
                  <a:srgbClr val="BBBBBB"/>
                </a:solidFill>
                <a:latin typeface="Microsoft JhengHei"/>
              </a:defRPr>
            </a:pPr>
            <a:r>
              <a:t>• 增量 PageRank 建核心節點間直接相依：α, β 線性表示 + Y/N/A flag 快取（p.4-5）</a:t>
            </a:r>
          </a:p>
          <a:p>
            <a:pPr>
              <a:spcBef>
                <a:spcPts val="800"/>
              </a:spcBef>
              <a:defRPr sz="2000" b="0">
                <a:solidFill>
                  <a:srgbClr val="BBBBBB"/>
                </a:solidFill>
                <a:latin typeface="Microsoft JhengHei"/>
              </a:defRPr>
            </a:pPr>
            <a:r>
              <a:t>• 稀疏乘法順序 Â·(X·W) + 動態剪裁零元素（p.5-6）</a:t>
            </a:r>
          </a:p>
          <a:p>
            <a:pPr>
              <a:spcBef>
                <a:spcPts val="800"/>
              </a:spcBef>
              <a:defRPr sz="2000" b="0">
                <a:solidFill>
                  <a:srgbClr val="666666"/>
                </a:solidFill>
                <a:latin typeface="Microsoft JhengHei"/>
              </a:defRPr>
            </a:pPr>
            <a:r>
              <a:t>• DDA/DFA 硬體加速器（Verilog）— 超出學期範圍，列為未來工作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046720"/>
            <a:ext cx="1554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8FF88"/>
                </a:solidFill>
                <a:latin typeface="Microsoft JhengHei"/>
              </a:defRPr>
            </a:pPr>
            <a:r>
              <a:t>本專題實作以上全部軟體部分，並整合至既有導航系統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3657600"/>
            <a:ext cx="1463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1A1A"/>
                </a:solidFill>
                <a:latin typeface="Microsoft JhengHei"/>
              </a:defRPr>
            </a:pPr>
            <a:r>
              <a:t>實驗一：GCN 正確性驗證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548640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Microsoft JhengHei"/>
              </a:defRPr>
            </a:pPr>
            <a:r>
              <a:t>計畫書 p.5 公式 / p.8 參數 / p.9 表二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0" y="94183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6666"/>
                </a:solidFill>
                <a:latin typeface="Microsoft Jheng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6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實驗一：純 PyTorch 實作 Â·(X·W)，表二資料集驗證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0" y="94183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BBBBB"/>
                </a:solidFill>
                <a:latin typeface="Microsoft JhengHei"/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1554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BBBB"/>
                </a:solidFill>
                <a:latin typeface="Microsoft JhengHei"/>
              </a:defRPr>
            </a:pPr>
            <a:r>
              <a:t>不依賴現成 GNN 框架 — 完全控制乘法順序與傳播流程（實驗三的前提）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2560320"/>
          <a:ext cx="15544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840480"/>
                <a:gridCol w="4206240"/>
                <a:gridCol w="2011680"/>
                <a:gridCol w="27432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資料集（表二）</a:t>
                      </a:r>
                    </a:p>
                  </a:txBody>
                  <a:tcPr anchor="ctr">
                    <a:solidFill>
                      <a:srgbClr val="003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規模</a:t>
                      </a:r>
                    </a:p>
                  </a:txBody>
                  <a:tcPr anchor="ctr">
                    <a:solidFill>
                      <a:srgbClr val="003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超參數</a:t>
                      </a:r>
                    </a:p>
                  </a:txBody>
                  <a:tcPr anchor="ctr">
                    <a:solidFill>
                      <a:srgbClr val="003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Test Acc</a:t>
                      </a:r>
                    </a:p>
                  </a:txBody>
                  <a:tcPr anchor="ctr">
                    <a:solidFill>
                      <a:srgbClr val="003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文獻參考</a:t>
                      </a:r>
                    </a:p>
                  </a:txBody>
                  <a:tcPr anchor="ctr">
                    <a:solidFill>
                      <a:srgbClr val="003A4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Pubmed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19,717 節點 / 99K 邊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2 層、hidden 64、lr 0.01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79.8%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~79%（Kipf &amp; Welling）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Pubmed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同上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計畫書 p.8（lr 0.001、50 ep）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71.4%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50 epochs 尚未收斂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ogbn-arxiv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169,343 節點 / 1.17M 邊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3 層、hidden 64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67.4%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~71.7%（hidden 256）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371600" y="6035040"/>
            <a:ext cx="1554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8FF88"/>
                </a:solidFill>
                <a:latin typeface="Microsoft JhengHei"/>
              </a:defRPr>
            </a:pPr>
            <a:r>
              <a:t>達文獻水準 → 實作正確。訓練全程於 GPU，Pubmed 每 epoch 14.5ms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3657600"/>
            <a:ext cx="1463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1A1A"/>
                </a:solidFill>
                <a:latin typeface="Microsoft JhengHei"/>
              </a:defRPr>
            </a:pPr>
            <a:r>
              <a:t>實驗二：子圖分割與增量傳播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548640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Microsoft JhengHei"/>
              </a:defRPr>
            </a:pPr>
            <a:r>
              <a:t>計畫書核心 p.1–2 / p.4–5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0" y="94183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6666"/>
                </a:solidFill>
                <a:latin typeface="Microsoft JhengHe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6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實驗二：子圖分割 — 與計畫書範例完全一致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0" y="94183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BBBBB"/>
                </a:solidFill>
                <a:latin typeface="Microsoft JhengHei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1554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Bef>
                <a:spcPts val="800"/>
              </a:spcBef>
              <a:defRPr sz="2200" b="0">
                <a:solidFill>
                  <a:srgbClr val="FFFFFF"/>
                </a:solidFill>
                <a:latin typeface="Microsoft JhengHei"/>
              </a:defRPr>
            </a:pPr>
            <a:r>
              <a:t>計畫書 p.1 圖一之 21 節點範例圖驗證：</a:t>
            </a:r>
          </a:p>
          <a:p>
            <a:pPr>
              <a:spcBef>
                <a:spcPts val="800"/>
              </a:spcBef>
              <a:defRPr sz="2400" b="1">
                <a:solidFill>
                  <a:srgbClr val="88FF88"/>
                </a:solidFill>
                <a:latin typeface="Microsoft JhengHei"/>
              </a:defRPr>
            </a:pPr>
            <a:r>
              <a:t>核心節點（out-degree &gt; 1）＝ {v5, v7, v13, v15, v16} — 與計畫書 p.2 完全一致</a:t>
            </a:r>
          </a:p>
          <a:p>
            <a:pPr>
              <a:spcBef>
                <a:spcPts val="800"/>
              </a:spcBef>
              <a:defRPr sz="8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BBBBBB"/>
                </a:solidFill>
                <a:latin typeface="Microsoft JhengHei"/>
              </a:defRPr>
            </a:pPr>
            <a:r>
              <a:t>附註（可與教授討論）：計畫書對邊界鏈 v8, v10 的子圖歸屬前後不一致，</a:t>
            </a:r>
          </a:p>
          <a:p>
            <a:pPr>
              <a:spcBef>
                <a:spcPts val="800"/>
              </a:spcBef>
              <a:defRPr sz="1800" b="0">
                <a:solidFill>
                  <a:srgbClr val="BBBBBB"/>
                </a:solidFill>
                <a:latin typeface="Microsoft JhengHei"/>
              </a:defRPr>
            </a:pPr>
            <a:r>
              <a:t>本實作採一致的「上游核心 DFS 認領」規則，已於 subgraph_partition.py docstring 註記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6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實驗二：三種更新方式對比（單一活動節點更新，10 次平均）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0" y="94183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BBBBB"/>
                </a:solidFill>
                <a:latin typeface="Microsoft JhengHei"/>
              </a:defRPr>
            </a:pPr>
            <a:r>
              <a:t>9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645920"/>
          <a:ext cx="15544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  <a:gridCol w="2743200"/>
                <a:gridCol w="2743200"/>
                <a:gridCol w="3657600"/>
              </a:tblGrid>
              <a:tr h="658368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方法</a:t>
                      </a:r>
                    </a:p>
                  </a:txBody>
                  <a:tcPr anchor="ctr">
                    <a:solidFill>
                      <a:srgbClr val="003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Pubmed</a:t>
                      </a:r>
                    </a:p>
                  </a:txBody>
                  <a:tcPr anchor="ctr">
                    <a:solidFill>
                      <a:srgbClr val="003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ogbn-arxiv</a:t>
                      </a:r>
                    </a:p>
                  </a:txBody>
                  <a:tcPr anchor="ctr">
                    <a:solidFill>
                      <a:srgbClr val="003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arxiv 觸碰節點數</a:t>
                      </a:r>
                    </a:p>
                  </a:txBody>
                  <a:tcPr anchor="ctr">
                    <a:solidFill>
                      <a:srgbClr val="003A4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A. 全圖重算（傳統，計畫書 p.1 之問題）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35.2 ms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703.3 ms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19,101,890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B. 增量傳播（只沿受影響傳播鏈推送）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26.2 ms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293.4 ms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10,155（少 1,880×）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C. 直接相依 — 首次（flag N→A 建索引）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30.9 ms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431.4 ms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C. 直接相依 — 快取命中（flag A 查表）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0.019 ms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0.41 ms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5669280"/>
            <a:ext cx="1554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Bef>
                <a:spcPts val="800"/>
              </a:spcBef>
              <a:defRPr sz="2000" b="0">
                <a:solidFill>
                  <a:srgbClr val="BBBBBB"/>
                </a:solidFill>
                <a:latin typeface="Microsoft JhengHei"/>
              </a:defRPr>
            </a:pPr>
            <a:r>
              <a:t>• 增量結果與全圖重算 L1 誤差 &lt; 1e-5（正確性）</a:t>
            </a:r>
          </a:p>
          <a:p>
            <a:pPr>
              <a:spcBef>
                <a:spcPts val="800"/>
              </a:spcBef>
              <a:defRPr sz="2000" b="0">
                <a:solidFill>
                  <a:srgbClr val="BBBBBB"/>
                </a:solidFill>
                <a:latin typeface="Microsoft JhengHei"/>
              </a:defRPr>
            </a:pPr>
            <a:r>
              <a:t>• 圖越大增量優勢越明顯：觸碰節點數差三個數量級</a:t>
            </a:r>
          </a:p>
          <a:p>
            <a:pPr>
              <a:spcBef>
                <a:spcPts val="800"/>
              </a:spcBef>
              <a:defRPr sz="2000" b="1">
                <a:solidFill>
                  <a:srgbClr val="88FF88"/>
                </a:solidFill>
                <a:latin typeface="Microsoft JhengHei"/>
              </a:defRPr>
            </a:pPr>
            <a:r>
              <a:t>• flag 快取是最大貢獻：首次建索引後，每次更新只剩一次向量加法（0.41ms，~1,700×）</a:t>
            </a:r>
          </a:p>
          <a:p>
            <a:pPr>
              <a:spcBef>
                <a:spcPts val="800"/>
              </a:spcBef>
              <a:defRPr sz="1800" b="0">
                <a:solidFill>
                  <a:srgbClr val="BBBBBB"/>
                </a:solidFill>
                <a:latin typeface="Microsoft JhengHei"/>
              </a:defRPr>
            </a:pPr>
            <a:r>
              <a:t>  → 驗證計畫書 p.4-5 直接相依設計的價值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3657600"/>
            <a:ext cx="1463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1A1A"/>
                </a:solidFill>
                <a:latin typeface="Microsoft JhengHei"/>
              </a:defRPr>
            </a:pPr>
            <a:r>
              <a:t>實驗三：稀疏矩陣乘法優化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548640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Microsoft JhengHei"/>
              </a:defRPr>
            </a:pPr>
            <a:r>
              <a:t>計畫書 p.5–6 / p.9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0" y="94183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6666"/>
                </a:solidFill>
                <a:latin typeface="Microsoft Jheng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6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實驗三：乘法順序與零元素剪裁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0" y="94183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BBBBB"/>
                </a:solidFill>
                <a:latin typeface="Microsoft JhengHei"/>
              </a:defRPr>
            </a:pPr>
            <a:r>
              <a:t>11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645920"/>
          <a:ext cx="15544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/>
                <a:gridCol w="96012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實驗</a:t>
                      </a:r>
                    </a:p>
                  </a:txBody>
                  <a:tcPr anchor="ctr">
                    <a:solidFill>
                      <a:srgbClr val="003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結果</a:t>
                      </a:r>
                    </a:p>
                  </a:txBody>
                  <a:tcPr anchor="ctr">
                    <a:solidFill>
                      <a:srgbClr val="003A4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乘法順序（n=20K, f=500, h=64）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Â·(X·W) 快 2.3×；FLOPs 12.8 億 → 3,840 萬（33×）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動態剪裁零元素（n=4,000）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density 0.001 → 22×；0.01 → 3.1×；&gt;5% 時 dense 反而較快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矩陣大小掃描（density 1%）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n=16,000 時稀疏乘法快 3×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4937760"/>
            <a:ext cx="1554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Bef>
                <a:spcPts val="800"/>
              </a:spcBef>
              <a:defRPr sz="2000" b="0">
                <a:solidFill>
                  <a:srgbClr val="BBBBBB"/>
                </a:solidFill>
                <a:latin typeface="Microsoft JhengHei"/>
              </a:defRPr>
            </a:pPr>
            <a:r>
              <a:t>• 計畫書 p.5 順序論點與 p.6 剪裁論點皆獲數據支持</a:t>
            </a:r>
          </a:p>
          <a:p>
            <a:pPr>
              <a:spcBef>
                <a:spcPts val="800"/>
              </a:spcBef>
              <a:defRPr sz="2000" b="1">
                <a:solidFill>
                  <a:srgbClr val="88FF88"/>
                </a:solidFill>
                <a:latin typeface="Microsoft JhengHei"/>
              </a:defRPr>
            </a:pPr>
            <a:r>
              <a:t>• 額外發現：dense/sparse 交叉點 ~5% 密度 — 剪裁須在高稀疏度情境才有效益</a:t>
            </a:r>
          </a:p>
          <a:p>
            <a:pPr>
              <a:spcBef>
                <a:spcPts val="800"/>
              </a:spcBef>
              <a:defRPr sz="1800" b="0">
                <a:solidFill>
                  <a:srgbClr val="BBBBBB"/>
                </a:solidFill>
                <a:latin typeface="Microsoft JhengHei"/>
              </a:defRPr>
            </a:pPr>
            <a:r>
              <a:t>  （GCN 特徵/鄰接矩陣正屬此類）；能量量測以執行時間為代理指標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3657600"/>
            <a:ext cx="1463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1A1A"/>
                </a:solidFill>
                <a:latin typeface="Microsoft JhengHei"/>
              </a:defRPr>
            </a:pPr>
            <a:r>
              <a:t>實驗四：T-GCN 交通時空預測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548640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Microsoft JhengHei"/>
              </a:defRPr>
            </a:pPr>
            <a:r>
              <a:t>計畫書 p.7–8 實驗章節 · 真實高公局資料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0" y="94183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6666"/>
                </a:solidFill>
                <a:latin typeface="Microsoft Jheng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6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實驗四：資料與模型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0" y="94183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BBBBB"/>
                </a:solidFill>
                <a:latin typeface="Microsoft JhengHei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6012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Bef>
                <a:spcPts val="800"/>
              </a:spcBef>
              <a:defRPr sz="2400" b="1">
                <a:solidFill>
                  <a:srgbClr val="00AACC"/>
                </a:solidFill>
                <a:latin typeface="Microsoft JhengHei"/>
              </a:defRPr>
            </a:pPr>
            <a:r>
              <a:t>資料</a:t>
            </a:r>
          </a:p>
          <a:p>
            <a:pPr>
              <a:spcBef>
                <a:spcPts val="800"/>
              </a:spcBef>
              <a:defRPr sz="1900" b="0">
                <a:solidFill>
                  <a:srgbClr val="BBBBBB"/>
                </a:solidFill>
                <a:latin typeface="Microsoft JhengHei"/>
              </a:defRPr>
            </a:pPr>
            <a:r>
              <a:t>• 高公局 TDCS M05A 門架路段平均速率</a:t>
            </a:r>
          </a:p>
          <a:p>
            <a:pPr>
              <a:spcBef>
                <a:spcPts val="800"/>
              </a:spcBef>
              <a:defRPr sz="1900" b="0">
                <a:solidFill>
                  <a:srgbClr val="BBBBBB"/>
                </a:solidFill>
                <a:latin typeface="Microsoft JhengHei"/>
              </a:defRPr>
            </a:pPr>
            <a:r>
              <a:t>• 國道一號主線 148 路段 × 21 天（2026/5/10–30）</a:t>
            </a:r>
          </a:p>
          <a:p>
            <a:pPr>
              <a:spcBef>
                <a:spcPts val="800"/>
              </a:spcBef>
              <a:defRPr sz="1900" b="0">
                <a:solidFill>
                  <a:srgbClr val="BBBBBB"/>
                </a:solidFill>
                <a:latin typeface="Microsoft JhengHei"/>
              </a:defRPr>
            </a:pPr>
            <a:r>
              <a:t>• 5 分鐘粒度，共 6,048 時間步，各車種流量加權</a:t>
            </a:r>
          </a:p>
          <a:p>
            <a:pPr>
              <a:spcBef>
                <a:spcPts val="800"/>
              </a:spcBef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Bef>
                <a:spcPts val="800"/>
              </a:spcBef>
              <a:defRPr sz="2400" b="1">
                <a:solidFill>
                  <a:srgbClr val="00AACC"/>
                </a:solidFill>
                <a:latin typeface="Microsoft JhengHei"/>
              </a:defRPr>
            </a:pPr>
            <a:r>
              <a:t>圖建構</a:t>
            </a:r>
          </a:p>
          <a:p>
            <a:pPr>
              <a:spcBef>
                <a:spcPts val="800"/>
              </a:spcBef>
              <a:defRPr sz="1900" b="0">
                <a:solidFill>
                  <a:srgbClr val="BBBBBB"/>
                </a:solidFill>
                <a:latin typeface="Microsoft JhengHei"/>
              </a:defRPr>
            </a:pPr>
            <a:r>
              <a:t>• 路段迄門架 = 下段起門架 → 建邊（146 邊，沿行車方向）</a:t>
            </a:r>
          </a:p>
          <a:p>
            <a:pPr>
              <a:spcBef>
                <a:spcPts val="800"/>
              </a:spcBef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Bef>
                <a:spcPts val="800"/>
              </a:spcBef>
              <a:defRPr sz="2400" b="1">
                <a:solidFill>
                  <a:srgbClr val="00AACC"/>
                </a:solidFill>
                <a:latin typeface="Microsoft JhengHei"/>
              </a:defRPr>
            </a:pPr>
            <a:r>
              <a:t>模型（超參數完全照計畫書 p.8）</a:t>
            </a:r>
          </a:p>
          <a:p>
            <a:pPr>
              <a:spcBef>
                <a:spcPts val="800"/>
              </a:spcBef>
              <a:defRPr sz="1900" b="0">
                <a:solidFill>
                  <a:srgbClr val="BBBBBB"/>
                </a:solidFill>
                <a:latin typeface="Microsoft JhengHei"/>
              </a:defRPr>
            </a:pPr>
            <a:r>
              <a:t>• T-GCN：每時間步 GCN（2 層 hidden 64）聚合上下游</a:t>
            </a:r>
          </a:p>
          <a:p>
            <a:pPr>
              <a:spcBef>
                <a:spcPts val="800"/>
              </a:spcBef>
              <a:defRPr sz="1900" b="0">
                <a:solidFill>
                  <a:srgbClr val="BBBBBB"/>
                </a:solidFill>
                <a:latin typeface="Microsoft JhengHei"/>
              </a:defRPr>
            </a:pPr>
            <a:r>
              <a:t>  + GRU 捕捉時間相依 + 殘差連接</a:t>
            </a:r>
          </a:p>
          <a:p>
            <a:pPr>
              <a:spcBef>
                <a:spcPts val="800"/>
              </a:spcBef>
              <a:defRPr sz="1900" b="0">
                <a:solidFill>
                  <a:srgbClr val="BBBBBB"/>
                </a:solidFill>
                <a:latin typeface="Microsoft JhengHei"/>
              </a:defRPr>
            </a:pPr>
            <a:r>
              <a:t>• 輸入 60 分鐘 → 預測 5/15/30 分鐘</a:t>
            </a:r>
          </a:p>
          <a:p>
            <a:pPr>
              <a:spcBef>
                <a:spcPts val="800"/>
              </a:spcBef>
              <a:defRPr sz="1900" b="0">
                <a:solidFill>
                  <a:srgbClr val="BBBBBB"/>
                </a:solidFill>
                <a:latin typeface="Microsoft JhengHei"/>
              </a:defRPr>
            </a:pPr>
            <a:r>
              <a:t>• lr 0.001、Adam、50 epochs、early stopping</a:t>
            </a:r>
          </a:p>
        </p:txBody>
      </p:sp>
      <p:pic>
        <p:nvPicPr>
          <p:cNvPr id="5" name="Picture 4" descr="traffic_pred_tg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286000"/>
            <a:ext cx="6400800" cy="23275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6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實驗四：T-GCN 如何預測車速（原理）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0" y="94183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BBBBB"/>
                </a:solidFill>
                <a:latin typeface="Microsoft JhengHei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1554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核心：空間看上下游鄰居、時間看自己的歷史 — 兩者分工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08960"/>
            <a:ext cx="2926080" cy="3108960"/>
          </a:xfrm>
          <a:prstGeom prst="roundRect">
            <a:avLst/>
          </a:prstGeom>
          <a:solidFill>
            <a:srgbClr val="005A6A"/>
          </a:solidFill>
          <a:ln w="31750">
            <a:solidFill>
              <a:srgbClr val="00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2000" b="1">
                <a:solidFill>
                  <a:srgbClr val="00AACC"/>
                </a:solidFill>
                <a:latin typeface="Microsoft JhengHei"/>
              </a:defRPr>
            </a:pPr>
            <a:r>
              <a:t>輸入</a:t>
            </a:r>
          </a:p>
          <a:p>
            <a:pPr algn="ctr">
              <a:spcBef>
                <a:spcPts val="700"/>
              </a:spcBef>
              <a:defRPr sz="1400">
                <a:solidFill>
                  <a:srgbClr val="BBBBBB"/>
                </a:solidFill>
                <a:latin typeface="Microsoft JhengHei"/>
              </a:defRPr>
            </a:pPr>
            <a:r>
              <a:t>過去 60 分鐘</a:t>
            </a:r>
          </a:p>
          <a:p>
            <a:pPr algn="ctr">
              <a:spcBef>
                <a:spcPts val="700"/>
              </a:spcBef>
              <a:defRPr sz="1400">
                <a:solidFill>
                  <a:srgbClr val="BBBBBB"/>
                </a:solidFill>
                <a:latin typeface="Microsoft JhengHei"/>
              </a:defRPr>
            </a:pPr>
            <a:r>
              <a:t>148 路段</a:t>
            </a:r>
          </a:p>
          <a:p>
            <a:pPr algn="ctr">
              <a:spcBef>
                <a:spcPts val="700"/>
              </a:spcBef>
              <a:defRPr sz="1400">
                <a:solidFill>
                  <a:srgbClr val="BBBBBB"/>
                </a:solidFill>
                <a:latin typeface="Microsoft JhengHei"/>
              </a:defRPr>
            </a:pPr>
            <a:r>
              <a:t>車速 + 車流量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657600" y="4023360"/>
            <a:ext cx="548640" cy="1280160"/>
          </a:xfrm>
          <a:prstGeom prst="rightArrow">
            <a:avLst/>
          </a:prstGeom>
          <a:solidFill>
            <a:srgbClr val="00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06240" y="3108960"/>
            <a:ext cx="2926080" cy="3108960"/>
          </a:xfrm>
          <a:prstGeom prst="roundRect">
            <a:avLst/>
          </a:prstGeom>
          <a:solidFill>
            <a:srgbClr val="005A6A"/>
          </a:solidFill>
          <a:ln w="31750">
            <a:solidFill>
              <a:srgbClr val="00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2000" b="1">
                <a:solidFill>
                  <a:srgbClr val="00AACC"/>
                </a:solidFill>
                <a:latin typeface="Microsoft JhengHei"/>
              </a:defRPr>
            </a:pPr>
            <a:r>
              <a:t>① GCN 圖卷積</a:t>
            </a:r>
          </a:p>
          <a:p>
            <a:pPr algn="ctr">
              <a:spcBef>
                <a:spcPts val="700"/>
              </a:spcBef>
              <a:defRPr sz="1400">
                <a:solidFill>
                  <a:srgbClr val="BBBBBB"/>
                </a:solidFill>
                <a:latin typeface="Microsoft JhengHei"/>
              </a:defRPr>
            </a:pPr>
            <a:r>
              <a:t>聚合上下游鄰居</a:t>
            </a:r>
          </a:p>
          <a:p>
            <a:pPr algn="ctr">
              <a:spcBef>
                <a:spcPts val="700"/>
              </a:spcBef>
              <a:defRPr sz="1400">
                <a:solidFill>
                  <a:srgbClr val="BBBBBB"/>
                </a:solidFill>
                <a:latin typeface="Microsoft JhengHei"/>
              </a:defRPr>
            </a:pPr>
            <a:r>
              <a:t>（空間依賴）</a:t>
            </a:r>
          </a:p>
          <a:p>
            <a:pPr algn="ctr">
              <a:spcBef>
                <a:spcPts val="700"/>
              </a:spcBef>
              <a:defRPr sz="1400">
                <a:solidFill>
                  <a:srgbClr val="BBBBBB"/>
                </a:solidFill>
                <a:latin typeface="Microsoft JhengHei"/>
              </a:defRPr>
            </a:pPr>
            <a:r>
              <a:t>塞車往下游擴散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132320" y="4023360"/>
            <a:ext cx="548640" cy="1280160"/>
          </a:xfrm>
          <a:prstGeom prst="rightArrow">
            <a:avLst/>
          </a:prstGeom>
          <a:solidFill>
            <a:srgbClr val="00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80960" y="3108960"/>
            <a:ext cx="2926080" cy="3108960"/>
          </a:xfrm>
          <a:prstGeom prst="roundRect">
            <a:avLst/>
          </a:prstGeom>
          <a:solidFill>
            <a:srgbClr val="005A6A"/>
          </a:solidFill>
          <a:ln w="3175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2000" b="1">
                <a:solidFill>
                  <a:srgbClr val="00FFAA"/>
                </a:solidFill>
                <a:latin typeface="Microsoft JhengHei"/>
              </a:defRPr>
            </a:pPr>
            <a:r>
              <a:t>② 殘差連接</a:t>
            </a:r>
          </a:p>
          <a:p>
            <a:pPr algn="ctr">
              <a:spcBef>
                <a:spcPts val="700"/>
              </a:spcBef>
              <a:defRPr sz="1400">
                <a:solidFill>
                  <a:srgbClr val="BBBBBB"/>
                </a:solidFill>
                <a:latin typeface="Microsoft JhengHei"/>
              </a:defRPr>
            </a:pPr>
            <a:r>
              <a:t>保留路段自己車速</a:t>
            </a:r>
          </a:p>
          <a:p>
            <a:pPr algn="ctr">
              <a:spcBef>
                <a:spcPts val="700"/>
              </a:spcBef>
              <a:defRPr sz="1400">
                <a:solidFill>
                  <a:srgbClr val="BBBBBB"/>
                </a:solidFill>
                <a:latin typeface="Microsoft JhengHei"/>
              </a:defRPr>
            </a:pPr>
            <a:r>
              <a:t>不被鄰居蓋掉</a:t>
            </a:r>
          </a:p>
          <a:p>
            <a:pPr algn="ctr">
              <a:spcBef>
                <a:spcPts val="700"/>
              </a:spcBef>
              <a:defRPr sz="1400">
                <a:solidFill>
                  <a:srgbClr val="BBBBBB"/>
                </a:solidFill>
                <a:latin typeface="Microsoft JhengHei"/>
              </a:defRPr>
            </a:pPr>
            <a:r>
              <a:t>（關鍵：拿掉會變差）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607040" y="4023360"/>
            <a:ext cx="548640" cy="1280160"/>
          </a:xfrm>
          <a:prstGeom prst="rightArrow">
            <a:avLst/>
          </a:prstGeom>
          <a:solidFill>
            <a:srgbClr val="00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155680" y="3108960"/>
            <a:ext cx="2926080" cy="3108960"/>
          </a:xfrm>
          <a:prstGeom prst="roundRect">
            <a:avLst/>
          </a:prstGeom>
          <a:solidFill>
            <a:srgbClr val="005A6A"/>
          </a:solidFill>
          <a:ln w="31750">
            <a:solidFill>
              <a:srgbClr val="00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2000" b="1">
                <a:solidFill>
                  <a:srgbClr val="00AACC"/>
                </a:solidFill>
                <a:latin typeface="Microsoft JhengHei"/>
              </a:defRPr>
            </a:pPr>
            <a:r>
              <a:t>③ GRU</a:t>
            </a:r>
          </a:p>
          <a:p>
            <a:pPr algn="ctr">
              <a:spcBef>
                <a:spcPts val="700"/>
              </a:spcBef>
              <a:defRPr sz="1400">
                <a:solidFill>
                  <a:srgbClr val="BBBBBB"/>
                </a:solidFill>
                <a:latin typeface="Microsoft JhengHei"/>
              </a:defRPr>
            </a:pPr>
            <a:r>
              <a:t>看過去一小時趨勢</a:t>
            </a:r>
          </a:p>
          <a:p>
            <a:pPr algn="ctr">
              <a:spcBef>
                <a:spcPts val="700"/>
              </a:spcBef>
              <a:defRPr sz="1400">
                <a:solidFill>
                  <a:srgbClr val="BBBBBB"/>
                </a:solidFill>
                <a:latin typeface="Microsoft JhengHei"/>
              </a:defRPr>
            </a:pPr>
            <a:r>
              <a:t>（時間依賴）</a:t>
            </a:r>
          </a:p>
          <a:p>
            <a:pPr algn="ctr">
              <a:spcBef>
                <a:spcPts val="700"/>
              </a:spcBef>
              <a:defRPr sz="1400">
                <a:solidFill>
                  <a:srgbClr val="BBBBBB"/>
                </a:solidFill>
                <a:latin typeface="Microsoft JhengHei"/>
              </a:defRPr>
            </a:pPr>
            <a:r>
              <a:t>車速連續變化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4081760" y="4023360"/>
            <a:ext cx="548640" cy="1280160"/>
          </a:xfrm>
          <a:prstGeom prst="rightArrow">
            <a:avLst/>
          </a:prstGeom>
          <a:solidFill>
            <a:srgbClr val="00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4630400" y="3108960"/>
            <a:ext cx="2926080" cy="3108960"/>
          </a:xfrm>
          <a:prstGeom prst="roundRect">
            <a:avLst/>
          </a:prstGeom>
          <a:solidFill>
            <a:srgbClr val="005A6A"/>
          </a:solidFill>
          <a:ln w="3175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2000" b="1">
                <a:solidFill>
                  <a:srgbClr val="00FFAA"/>
                </a:solidFill>
                <a:latin typeface="Microsoft JhengHei"/>
              </a:defRPr>
            </a:pPr>
            <a:r>
              <a:t>輸出</a:t>
            </a:r>
          </a:p>
          <a:p>
            <a:pPr algn="ctr">
              <a:spcBef>
                <a:spcPts val="700"/>
              </a:spcBef>
              <a:defRPr sz="1400">
                <a:solidFill>
                  <a:srgbClr val="BBBBBB"/>
                </a:solidFill>
                <a:latin typeface="Microsoft JhengHei"/>
              </a:defRPr>
            </a:pPr>
            <a:r>
              <a:t>未來 5/15/30 分鐘</a:t>
            </a:r>
          </a:p>
          <a:p>
            <a:pPr algn="ctr">
              <a:spcBef>
                <a:spcPts val="700"/>
              </a:spcBef>
              <a:defRPr sz="1400">
                <a:solidFill>
                  <a:srgbClr val="BBBBBB"/>
                </a:solidFill>
                <a:latin typeface="Microsoft JhengHei"/>
              </a:defRPr>
            </a:pPr>
            <a:r>
              <a:t>預測車速</a:t>
            </a:r>
          </a:p>
          <a:p>
            <a:pPr algn="ctr">
              <a:spcBef>
                <a:spcPts val="700"/>
              </a:spcBef>
              <a:defRPr sz="1400">
                <a:solidFill>
                  <a:srgbClr val="BBBBBB"/>
                </a:solidFill>
                <a:latin typeface="Microsoft JhengHei"/>
              </a:defRPr>
            </a:pPr>
            <a:r>
              <a:t>（km/h）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6949440"/>
            <a:ext cx="1554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BBBB"/>
                </a:solidFill>
                <a:latin typeface="Microsoft JhengHei"/>
              </a:defRPr>
            </a:pPr>
            <a:r>
              <a:t>為什麼要三步一起：</a:t>
            </a:r>
            <a:br/>
            <a:r>
              <a:t>• 只看自己歷史 → 沒看到上游正在塞（純 GRU：MAE 2.00）</a:t>
            </a:r>
            <a:br/>
            <a:r>
              <a:t>• 只看鄰居、蓋掉自己規律 → 更糟（無殘差：MAE 3.07）</a:t>
            </a:r>
            <a:br/>
            <a:r>
              <a:t>• 三者合起來才最準（T-GCN：MAE 1.88）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6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實驗四：測試集 MAE — T-GCN 勝過全部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0" y="94183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BBBBB"/>
                </a:solidFill>
                <a:latin typeface="Microsoft JhengHei"/>
              </a:defRPr>
            </a:pPr>
            <a:r>
              <a:t>15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645920"/>
          <a:ext cx="118872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2286000"/>
                <a:gridCol w="2286000"/>
                <a:gridCol w="2286000"/>
              </a:tblGrid>
              <a:tr h="621792"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模型（MAE km/h）</a:t>
                      </a:r>
                    </a:p>
                  </a:txBody>
                  <a:tcPr anchor="ctr">
                    <a:solidFill>
                      <a:srgbClr val="003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@5min</a:t>
                      </a:r>
                    </a:p>
                  </a:txBody>
                  <a:tcPr anchor="ctr">
                    <a:solidFill>
                      <a:srgbClr val="003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@15min</a:t>
                      </a:r>
                    </a:p>
                  </a:txBody>
                  <a:tcPr anchor="ctr">
                    <a:solidFill>
                      <a:srgbClr val="003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@30min</a:t>
                      </a:r>
                    </a:p>
                  </a:txBody>
                  <a:tcPr anchor="ctr">
                    <a:solidFill>
                      <a:srgbClr val="003A44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T-GCN（GCN+GRU+殘差）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1.88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2.57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3.23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GRU（無 GCN，ablation）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2.00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2.64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3.33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naive（上一時刻延續）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2.40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3.11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3.87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歷史平均 HA（週時間槽）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4.51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4.51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4.51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5394960"/>
            <a:ext cx="1554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Bef>
                <a:spcPts val="800"/>
              </a:spcBef>
              <a:defRPr sz="2000" b="0">
                <a:solidFill>
                  <a:srgbClr val="BBBBBB"/>
                </a:solidFill>
                <a:latin typeface="Microsoft JhengHei"/>
              </a:defRPr>
            </a:pPr>
            <a:r>
              <a:t>發現一：GCN 空間資訊於所有視野帶來一致改善（ablation 成立），視野越遠越重要</a:t>
            </a:r>
          </a:p>
          <a:p>
            <a:pPr>
              <a:spcBef>
                <a:spcPts val="800"/>
              </a:spcBef>
              <a:defRPr sz="2000" b="1">
                <a:solidFill>
                  <a:srgbClr val="88FF88"/>
                </a:solidFill>
                <a:latin typeface="Microsoft JhengHei"/>
              </a:defRPr>
            </a:pPr>
            <a:r>
              <a:t>發現二：殘差連接為必要條件 — 無殘差時 MAE@5min 惡化至 3.07（劣於純 GRU 2.00）</a:t>
            </a:r>
          </a:p>
          <a:p>
            <a:pPr>
              <a:spcBef>
                <a:spcPts val="800"/>
              </a:spcBef>
              <a:defRPr sz="1800" b="0">
                <a:solidFill>
                  <a:srgbClr val="BBBBBB"/>
                </a:solidFill>
                <a:latin typeface="Microsoft JhengHei"/>
              </a:defRPr>
            </a:pPr>
            <a:r>
              <a:t>  → 與計畫書 p.1「過時狀態傳遞錯誤資訊」相呼應：空間傳播不可破壞節點自身狀態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6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實驗四：模型準確率總覽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0" y="94183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BBBBB"/>
                </a:solidFill>
                <a:latin typeface="Microsoft JhengHei"/>
              </a:defRPr>
            </a:pPr>
            <a:r>
              <a:t>16</a:t>
            </a:r>
          </a:p>
        </p:txBody>
      </p:sp>
      <p:pic>
        <p:nvPicPr>
          <p:cNvPr id="4" name="Picture 3" descr="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1680"/>
            <a:ext cx="16459200" cy="61500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8595360"/>
            <a:ext cx="1645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  <a:latin typeface="Microsoft JhengHei"/>
              </a:defRPr>
            </a:pPr>
            <a:r>
              <a:t>左：交通預測 MAE（越低越準）— T-GCN 三個視野都最低　｜　右：GCN 節點分類準確率 — 達文獻水準，證明實作正確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6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實驗四：路網覆蓋擴展與資料源選擇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0" y="94183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BBBBB"/>
                </a:solidFill>
                <a:latin typeface="Microsoft JhengHei"/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1554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評估可擴展性 — 三種覆蓋方案的精度取捨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560320"/>
          <a:ext cx="14630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286000"/>
                <a:gridCol w="2743200"/>
                <a:gridCol w="1828800"/>
                <a:gridCol w="2286000"/>
                <a:gridCol w="22860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版本</a:t>
                      </a:r>
                    </a:p>
                  </a:txBody>
                  <a:tcPr anchor="ctr">
                    <a:solidFill>
                      <a:srgbClr val="003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資料源</a:t>
                      </a:r>
                    </a:p>
                  </a:txBody>
                  <a:tcPr anchor="ctr">
                    <a:solidFill>
                      <a:srgbClr val="003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涵蓋</a:t>
                      </a:r>
                    </a:p>
                  </a:txBody>
                  <a:tcPr anchor="ctr">
                    <a:solidFill>
                      <a:srgbClr val="003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節點數</a:t>
                      </a:r>
                    </a:p>
                  </a:txBody>
                  <a:tcPr anchor="ctr">
                    <a:solidFill>
                      <a:srgbClr val="003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MAE@5min</a:t>
                      </a:r>
                    </a:p>
                  </a:txBody>
                  <a:tcPr anchor="ctr">
                    <a:solidFill>
                      <a:srgbClr val="003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GCN 贏 GRU</a:t>
                      </a:r>
                    </a:p>
                  </a:txBody>
                  <a:tcPr anchor="ctr">
                    <a:solidFill>
                      <a:srgbClr val="003A4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國道一號（主結果）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M05A 門架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國1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148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1.88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明顯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多國道（系統採用）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M05A 門架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國1/3/5+高架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378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2.11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明顯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全國道（未採用）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VD 偵測器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全 8 國道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1,087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3.90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幾乎消失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371600" y="5669280"/>
            <a:ext cx="1554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Bef>
                <a:spcPts val="800"/>
              </a:spcBef>
              <a:defRPr sz="1900" b="1">
                <a:solidFill>
                  <a:srgbClr val="88FF88"/>
                </a:solidFill>
                <a:latin typeface="Microsoft JhengHei"/>
              </a:defRPr>
            </a:pPr>
            <a:r>
              <a:t>系統採用 M05A 多國道版（378 段）：改幾行前綴篩選即覆蓋 2.5 倍，模型不變，30 分鐘視野反而更準</a:t>
            </a:r>
          </a:p>
          <a:p>
            <a:pPr>
              <a:spcBef>
                <a:spcPts val="800"/>
              </a:spcBef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00AACC"/>
                </a:solidFill>
                <a:latin typeface="Microsoft JhengHei"/>
              </a:defRPr>
            </a:pPr>
            <a:r>
              <a:t>全國道 VD 版覆蓋最廣（8 國道）但未採用，誠實揭露原因：</a:t>
            </a:r>
          </a:p>
          <a:p>
            <a:pPr>
              <a:spcBef>
                <a:spcPts val="800"/>
              </a:spcBef>
              <a:defRPr sz="1800" b="0">
                <a:solidFill>
                  <a:srgbClr val="BBBBBB"/>
                </a:solidFill>
                <a:latin typeface="Microsoft JhengHei"/>
              </a:defRPr>
            </a:pPr>
            <a:r>
              <a:t>1. 點感測噪音高 — VD 是單點瞬時車速，M05A 是門架跨數公里旅行時間（平滑）→ MAE 幾乎翻倍</a:t>
            </a:r>
          </a:p>
          <a:p>
            <a:pPr>
              <a:spcBef>
                <a:spcPts val="800"/>
              </a:spcBef>
              <a:defRPr sz="1800" b="0">
                <a:solidFill>
                  <a:srgbClr val="FF8888"/>
                </a:solidFill>
                <a:latin typeface="Microsoft JhengHei"/>
              </a:defRPr>
            </a:pPr>
            <a:r>
              <a:t>2. GCN 優勢消失 — VD 版 T-GCN(3.90) ≈ 純 GRU(3.93)，噪音蓋過空間資訊，弱化核心論點</a:t>
            </a:r>
          </a:p>
          <a:p>
            <a:pPr>
              <a:spcBef>
                <a:spcPts val="800"/>
              </a:spcBef>
              <a:defRPr sz="1800" b="0">
                <a:solidFill>
                  <a:srgbClr val="BBBBBB"/>
                </a:solidFill>
                <a:latin typeface="Microsoft JhengHei"/>
              </a:defRPr>
            </a:pPr>
            <a:r>
              <a:t>→ 取捨結論：主線用精準的 M05A，全國道 VD 列覆蓋廣度驗證（精度可靠聚合多筆讀數改善）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3657600"/>
            <a:ext cx="1463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1A1A"/>
                </a:solidFill>
                <a:latin typeface="Microsoft JhengHei"/>
              </a:defRPr>
            </a:pPr>
            <a:r>
              <a:t>實驗五：異常偵測驗證與事件衝擊校準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548640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Microsoft JhengHei"/>
              </a:defRPr>
            </a:pPr>
            <a:r>
              <a:t>真實事故 ground truth · 計畫書 p.8 精確度/召回率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0" y="94183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6666"/>
                </a:solidFill>
                <a:latin typeface="Microsoft JhengHe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6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實驗五-1：異常偵測 precision / recall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0" y="94183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BBBBB"/>
                </a:solidFill>
                <a:latin typeface="Microsoft JhengHei"/>
              </a:defRPr>
            </a:pPr>
            <a: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9601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00AACC"/>
                </a:solidFill>
                <a:latin typeface="Microsoft JhengHei"/>
              </a:defRPr>
            </a:pPr>
            <a:r>
              <a:t>Ground truth：高公局 LiveEvents 歷史事件檔</a:t>
            </a:r>
          </a:p>
          <a:p>
            <a:pPr>
              <a:spcBef>
                <a:spcPts val="800"/>
              </a:spcBef>
              <a:defRPr sz="1800" b="0">
                <a:solidFill>
                  <a:srgbClr val="BBBBBB"/>
                </a:solidFill>
                <a:latin typeface="Microsoft JhengHei"/>
              </a:defRPr>
            </a:pPr>
            <a:r>
              <a:t>• 測試期間國道一號事故 169 件（127 件落在測試窗，123 件對齊成功）</a:t>
            </a:r>
          </a:p>
          <a:p>
            <a:pPr>
              <a:spcBef>
                <a:spcPts val="800"/>
              </a:spcBef>
              <a:defRPr sz="1800" b="0">
                <a:solidFill>
                  <a:srgbClr val="BBBBBB"/>
                </a:solidFill>
                <a:latin typeface="Microsoft JhengHei"/>
              </a:defRPr>
            </a:pPr>
            <a:r>
              <a:t>• 事故依方向＋里程對應門架路段，向上游擴散 2 段（回堵）</a:t>
            </a:r>
          </a:p>
          <a:p>
            <a:pPr>
              <a:spcBef>
                <a:spcPts val="800"/>
              </a:spcBef>
              <a:defRPr sz="1800" b="0">
                <a:solidFill>
                  <a:srgbClr val="BBBBBB"/>
                </a:solidFill>
                <a:latin typeface="Microsoft JhengHei"/>
              </a:defRPr>
            </a:pPr>
            <a:r>
              <a:t>• 時間窗：通報前 10 分鐘 ～ 清除後 30 分鐘</a:t>
            </a:r>
          </a:p>
          <a:p>
            <a:pPr>
              <a:spcBef>
                <a:spcPts val="800"/>
              </a:spcBef>
              <a:defRPr sz="1800" b="0">
                <a:solidFill>
                  <a:srgbClr val="BBBBBB"/>
                </a:solidFill>
                <a:latin typeface="Microsoft JhengHei"/>
              </a:defRPr>
            </a:pPr>
            <a:r>
              <a:t>偵測方法：殘差 z = standardize(預測速 − 實際速) 超過閾值 = 非預期減速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475488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206240"/>
                <a:gridCol w="2560320"/>
                <a:gridCol w="128016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閾值</a:t>
                      </a:r>
                    </a:p>
                  </a:txBody>
                  <a:tcPr anchor="ctr">
                    <a:solidFill>
                      <a:srgbClr val="003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標記點 precision</a:t>
                      </a:r>
                    </a:p>
                  </a:txBody>
                  <a:tcPr anchor="ctr">
                    <a:solidFill>
                      <a:srgbClr val="003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事故 recall</a:t>
                      </a:r>
                    </a:p>
                  </a:txBody>
                  <a:tcPr anchor="ctr">
                    <a:solidFill>
                      <a:srgbClr val="003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F1</a:t>
                      </a:r>
                    </a:p>
                  </a:txBody>
                  <a:tcPr anchor="ctr">
                    <a:solidFill>
                      <a:srgbClr val="003A4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z &gt; 3.0（原設定）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13.3%（隨機 2.3% 的 5.7×）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61.0%（75/123）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0.219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z &gt; 3.5（F1 最佳）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15.4%（6.6×）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55.3%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0.240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anomaly_p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440" y="1554480"/>
            <a:ext cx="6035040" cy="431074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7498079"/>
            <a:ext cx="16002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388FF"/>
                </a:solidFill>
                <a:latin typeface="Microsoft JhengHei"/>
              </a:defRPr>
            </a:pPr>
            <a:r>
              <a:t>詮釋：61% 事故可被「從未見過事故標籤」的無監督方法自動偵測。precision 偏低屬結構性現象 — ground truth 只有事故，而殘差同樣捕捉施工/匝道壅塞等真實減速（事故僅佔全事件 ~5%），多數「誤報」實為未標記的真實異常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6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實驗五-2：事件衝擊參數校準（164 件事故實測）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0" y="94183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BBBBB"/>
                </a:solidFill>
                <a:latin typeface="Microsoft JhengHei"/>
              </a:defRPr>
            </a:pPr>
            <a:r>
              <a:t>20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554480"/>
          <a:ext cx="114300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011680"/>
                <a:gridCol w="2011680"/>
                <a:gridCol w="3200400"/>
              </a:tblGrid>
              <a:tr h="66294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量測項</a:t>
                      </a:r>
                    </a:p>
                  </a:txBody>
                  <a:tcPr anchor="ctr">
                    <a:solidFill>
                      <a:srgbClr val="003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中位數</a:t>
                      </a:r>
                    </a:p>
                  </a:txBody>
                  <a:tcPr anchor="ctr">
                    <a:solidFill>
                      <a:srgbClr val="003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p75</a:t>
                      </a:r>
                    </a:p>
                  </a:txBody>
                  <a:tcPr anchor="ctr">
                    <a:solidFill>
                      <a:srgbClr val="003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系統原參數隱含值</a:t>
                      </a:r>
                    </a:p>
                  </a:txBody>
                  <a:tcPr anchor="ctr">
                    <a:solidFill>
                      <a:srgbClr val="003A44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事故段速度比（基準/最低速）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1.283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2.065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1.44（sev 0.80×1.8）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回堵延伸（連續上游路段）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2.15 km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6.43 km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最大 1.6 km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恢復時間（回到基準 90%）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25 分鐘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075920" y="155448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88FF88"/>
                </a:solidFill>
                <a:latin typeface="Microsoft JhengHei"/>
              </a:defRPr>
            </a:pPr>
            <a:r>
              <a:t>• severity 0.80 合理</a:t>
            </a:r>
          </a:p>
          <a:p>
            <a:pPr>
              <a:spcBef>
                <a:spcPts val="800"/>
              </a:spcBef>
              <a:defRPr sz="1500" b="0">
                <a:solidFill>
                  <a:srgbClr val="BBBBBB"/>
                </a:solidFill>
                <a:latin typeface="Microsoft JhengHei"/>
              </a:defRPr>
            </a:pPr>
            <a:r>
              <a:t>  （落在中位數與 p75 之間）</a:t>
            </a:r>
          </a:p>
          <a:p>
            <a:pPr>
              <a:spcBef>
                <a:spcPts val="800"/>
              </a:spcBef>
              <a:defRPr sz="1800" b="0">
                <a:solidFill>
                  <a:srgbClr val="BBBBBB"/>
                </a:solidFill>
                <a:latin typeface="Microsoft JhengHei"/>
              </a:defRPr>
            </a:pPr>
            <a:r>
              <a:t>• 半徑低估 → 校準 1.1km</a:t>
            </a:r>
          </a:p>
          <a:p>
            <a:pPr>
              <a:spcBef>
                <a:spcPts val="800"/>
              </a:spcBef>
              <a:defRPr sz="1500" b="0">
                <a:solidFill>
                  <a:srgbClr val="666666"/>
                </a:solidFill>
                <a:latin typeface="Microsoft JhengHei"/>
              </a:defRPr>
            </a:pPr>
            <a:r>
              <a:t>  IMPACT_CALIBRATED=1 啟用</a:t>
            </a:r>
          </a:p>
          <a:p>
            <a:pPr>
              <a:spcBef>
                <a:spcPts val="800"/>
              </a:spcBef>
              <a:defRPr sz="1800" b="0">
                <a:solidFill>
                  <a:srgbClr val="BBBBBB"/>
                </a:solidFill>
                <a:latin typeface="Microsoft JhengHei"/>
              </a:defRPr>
            </a:pPr>
            <a:r>
              <a:t>• p75 回堵 6.4km → 方向性</a:t>
            </a:r>
          </a:p>
          <a:p>
            <a:pPr>
              <a:spcBef>
                <a:spcPts val="800"/>
              </a:spcBef>
              <a:defRPr sz="1500" b="0">
                <a:solidFill>
                  <a:srgbClr val="BBBBBB"/>
                </a:solidFill>
                <a:latin typeface="Microsoft JhengHei"/>
              </a:defRPr>
            </a:pPr>
            <a:r>
              <a:t>  傳播列未來工作</a:t>
            </a:r>
          </a:p>
        </p:txBody>
      </p:sp>
      <p:pic>
        <p:nvPicPr>
          <p:cNvPr id="6" name="Picture 5" descr="impact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572000"/>
            <a:ext cx="155448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3657600"/>
            <a:ext cx="1463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1A1A"/>
                </a:solidFill>
                <a:latin typeface="Microsoft JhengHei"/>
              </a:defRPr>
            </a:pPr>
            <a:r>
              <a:t>系統整合與新舊對比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548640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Microsoft JhengHei"/>
              </a:defRPr>
            </a:pPr>
            <a:r>
              <a:t>只增不改 · 原系統事件演算法零修改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0" y="94183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6666"/>
                </a:solidFill>
                <a:latin typeface="Microsoft JhengHei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6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整合方式：只增不改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0" y="94183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BBBBB"/>
                </a:solidFill>
                <a:latin typeface="Microsoft JhengHei"/>
              </a:defRPr>
            </a:pPr>
            <a: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15544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Bef>
                <a:spcPts val="800"/>
              </a:spcBef>
              <a:defRPr sz="2000" b="0">
                <a:solidFill>
                  <a:srgbClr val="BBBBBB"/>
                </a:solidFill>
                <a:latin typeface="Microsoft JhengHei"/>
              </a:defRPr>
            </a:pPr>
            <a:r>
              <a:t>• 預測以 source='prediction' 寫入既有 dynamic_events 表，重用原系統事件→成本機制</a:t>
            </a:r>
          </a:p>
          <a:p>
            <a:pPr>
              <a:spcBef>
                <a:spcPts val="800"/>
              </a:spcBef>
              <a:defRPr sz="2000" b="0">
                <a:solidFill>
                  <a:srgbClr val="BBBBBB"/>
                </a:solidFill>
                <a:latin typeface="Microsoft JhengHei"/>
              </a:defRPr>
            </a:pPr>
            <a:r>
              <a:t>• 三種事件來源（manual / realtime / prediction）互不干擾，各清各的</a:t>
            </a:r>
          </a:p>
          <a:p>
            <a:pPr>
              <a:spcBef>
                <a:spcPts val="800"/>
              </a:spcBef>
              <a:defRPr sz="2000" b="0">
                <a:solidFill>
                  <a:srgbClr val="BBBBBB"/>
                </a:solidFill>
                <a:latin typeface="Microsoft JhengHei"/>
              </a:defRPr>
            </a:pPr>
            <a:r>
              <a:t>• 新增 API：/predict/run、/predict/status、/predict/congestion、/revgeocode</a:t>
            </a:r>
          </a:p>
          <a:p>
            <a:pPr>
              <a:spcBef>
                <a:spcPts val="800"/>
              </a:spcBef>
              <a:defRPr sz="2000" b="1">
                <a:solidFill>
                  <a:srgbClr val="88FF88"/>
                </a:solidFill>
                <a:latin typeface="Microsoft JhengHei"/>
              </a:defRPr>
            </a:pPr>
            <a:r>
              <a:t>• 原有端點、事件演算法、路由邏輯零修改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5120640"/>
          <a:ext cx="155448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5486400"/>
                <a:gridCol w="5486400"/>
              </a:tblGrid>
              <a:tr h="76809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計畫書概念</a:t>
                      </a:r>
                    </a:p>
                  </a:txBody>
                  <a:tcPr anchor="ctr">
                    <a:solidFill>
                      <a:srgbClr val="003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原系統中的對應物</a:t>
                      </a:r>
                    </a:p>
                  </a:txBody>
                  <a:tcPr anchor="ctr">
                    <a:solidFill>
                      <a:srgbClr val="003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本次實作</a:t>
                      </a:r>
                    </a:p>
                  </a:txBody>
                  <a:tcPr anchor="ctr">
                    <a:solidFill>
                      <a:srgbClr val="003A44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增量更新（只算受影響部分）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apply_event_incremental（半徑內局部更新）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增量 PageRank 殘差推送（實驗二 B）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索引重用避免重算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idx_edges_latlon 空間索引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直接相依索引 + flag（實驗二 C）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資料局部性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主幹路網預載記憶體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子圖分割（實驗二）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稀疏運算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—（無矩陣運算）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spmm 順序 + 零元素剪裁（實驗三）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6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能力對比：原系統 vs 整合後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0" y="94183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BBBBB"/>
                </a:solidFill>
                <a:latin typeface="Microsoft JhengHei"/>
              </a:defRPr>
            </a:pPr>
            <a:r>
              <a:t>23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645920"/>
          <a:ext cx="15544800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943600"/>
                <a:gridCol w="6858000"/>
              </a:tblGrid>
              <a:tr h="603504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面向</a:t>
                      </a:r>
                    </a:p>
                  </a:txBody>
                  <a:tcPr anchor="ctr">
                    <a:solidFill>
                      <a:srgbClr val="003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原系統</a:t>
                      </a:r>
                    </a:p>
                  </a:txBody>
                  <a:tcPr anchor="ctr">
                    <a:solidFill>
                      <a:srgbClr val="003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整合後</a:t>
                      </a:r>
                    </a:p>
                  </a:txBody>
                  <a:tcPr anchor="ctr">
                    <a:solidFill>
                      <a:srgbClr val="003A4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壅塞資訊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TDX VD 當下車速（反應式）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當下 + 未來 30 分鐘預測（預測式）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繞路時機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已經塞了才繞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預計會塞就先繞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資料保存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每 5 分鐘覆蓋，無歷史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M05A 歷史矩陣 + 可持續累積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異常偵測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無（被動接收事件新聞）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殘差自動標記（recall 61%）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事件參數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文獻概念 + 自訂值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164 件真實事故校準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事件來源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manual / realtime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manual / realtime / prediction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模型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規則式成本乘數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規則式 + 學習式（T-GCN）並存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預測模式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—（無預測）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重播 demo + 即時線上（ETag 每 5 分鐘）</a:t>
                      </a:r>
                    </a:p>
                  </a:txBody>
                  <a:tcPr anchor="ctr">
                    <a:solidFill>
                      <a:srgbClr val="004A5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前端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事件圖層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+ 預測圖層、即時通知、預測驗證頁</a:t>
                      </a:r>
                    </a:p>
                  </a:txBody>
                  <a:tcPr anchor="ctr">
                    <a:solidFill>
                      <a:srgbClr val="00556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6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真實路網端到端驗證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0" y="94183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BBBBB"/>
                </a:solidFill>
                <a:latin typeface="Microsoft JhengHei"/>
              </a:defRPr>
            </a:pPr>
            <a: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1554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Bef>
                <a:spcPts val="800"/>
              </a:spcBef>
              <a:defRPr sz="2200" b="1">
                <a:solidFill>
                  <a:srgbClr val="00AACC"/>
                </a:solidFill>
                <a:latin typeface="Microsoft JhengHei"/>
              </a:defRPr>
            </a:pPr>
            <a:r>
              <a:t>完整循環（2.5GB 台灣路網，台北→基隆 balanced）：</a:t>
            </a:r>
          </a:p>
          <a:p>
            <a:pPr>
              <a:spcBef>
                <a:spcPts val="800"/>
              </a:spcBef>
              <a:defRPr sz="2200" b="1">
                <a:solidFill>
                  <a:srgbClr val="88FF88"/>
                </a:solidFill>
                <a:latin typeface="Microsoft JhengHei"/>
              </a:defRPr>
            </a:pPr>
            <a:r>
              <a:t>基準 21.20 分 → 觸發預測（26 壅塞事件）→ 改道 22.88 分 → 清除 → 精確還原 21.20 分</a:t>
            </a:r>
          </a:p>
          <a:p>
            <a:pPr>
              <a:spcBef>
                <a:spcPts val="800"/>
              </a:spcBef>
              <a:defRPr sz="8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Bef>
                <a:spcPts val="800"/>
              </a:spcBef>
              <a:defRPr sz="2000" b="0">
                <a:solidFill>
                  <a:srgbClr val="BBBBBB"/>
                </a:solidFill>
                <a:latin typeface="Microsoft JhengHei"/>
              </a:defRPr>
            </a:pPr>
            <a:r>
              <a:t>• 預測事件立即增量套用：26 事件 / 605 條邊 / 1.2~1.35 秒（vs 全圖 recompute 15-20 秒）</a:t>
            </a:r>
          </a:p>
          <a:p>
            <a:pPr>
              <a:spcBef>
                <a:spcPts val="800"/>
              </a:spcBef>
              <a:defRPr sz="2000" b="0">
                <a:solidFill>
                  <a:srgbClr val="BBBBBB"/>
                </a:solidFill>
                <a:latin typeface="Microsoft JhengHei"/>
              </a:defRPr>
            </a:pPr>
            <a:r>
              <a:t>• 成本模型修正：壅塞折進時間項 → 所有模式都反應（原本只有 safest 改道）</a:t>
            </a:r>
          </a:p>
          <a:p>
            <a:pPr>
              <a:spcBef>
                <a:spcPts val="800"/>
              </a:spcBef>
              <a:defRPr sz="2000" b="0">
                <a:solidFill>
                  <a:srgbClr val="BBBBBB"/>
                </a:solidFill>
                <a:latin typeface="Microsoft JhengHei"/>
              </a:defRPr>
            </a:pPr>
            <a:r>
              <a:t>• 查詢延遲優化：網格快取後重複查詢 5.6 秒 → 0.53 秒</a:t>
            </a:r>
          </a:p>
          <a:p>
            <a:pPr>
              <a:spcBef>
                <a:spcPts val="800"/>
              </a:spcBef>
              <a:defRPr sz="2000" b="0">
                <a:solidFill>
                  <a:srgbClr val="BBBBBB"/>
                </a:solidFill>
                <a:latin typeface="Microsoft JhengHei"/>
              </a:defRPr>
            </a:pPr>
            <a:r>
              <a:t>• 全路網預載（374 萬節點 / 760 萬邊）重複查詢 0.4~0.5 秒</a:t>
            </a:r>
          </a:p>
          <a:p>
            <a:pPr>
              <a:spcBef>
                <a:spcPts val="800"/>
              </a:spcBef>
              <a:defRPr sz="8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666666"/>
                </a:solidFill>
                <a:latin typeface="Microsoft JhengHei"/>
              </a:defRPr>
            </a:pPr>
            <a:r>
              <a:t>過程中發現並修正原系統既有 bug：nearest_node 起終點解析不一致（28.21 vs 29.22 km）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6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即時線上模式：從重播升級到真・即時預測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0" y="94183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BBBBB"/>
                </a:solidFill>
                <a:latin typeface="Microsoft JhengHei"/>
              </a:defRPr>
            </a:pPr>
            <a:r>
              <a:t>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1554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8FF88"/>
                </a:solidFill>
                <a:latin typeface="Microsoft JhengHei"/>
              </a:defRPr>
            </a:pPr>
            <a:r>
              <a:t>預測服務不再限於重播歷史 — 接高公局 ETag 即時車速，預測「現在往後 30 分鐘」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1554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Bef>
                <a:spcPts val="800"/>
              </a:spcBef>
              <a:defRPr sz="2200" b="1">
                <a:solidFill>
                  <a:srgbClr val="00AACC"/>
                </a:solidFill>
                <a:latin typeface="Microsoft JhengHei"/>
              </a:defRPr>
            </a:pPr>
            <a:r>
              <a:t>運作流程（每 5 分鐘一輪）</a:t>
            </a:r>
          </a:p>
          <a:p>
            <a:pPr>
              <a:spcBef>
                <a:spcPts val="800"/>
              </a:spcBef>
              <a:defRPr sz="1900" b="0">
                <a:solidFill>
                  <a:srgbClr val="BBBBBB"/>
                </a:solidFill>
                <a:latin typeface="Microsoft JhengHei"/>
              </a:defRPr>
            </a:pPr>
            <a:r>
              <a:t>抓最新 ETagPairLive → 滾動 60 分鐘視窗 → T-GCN 預測 30 分鐘後 → 寫預測壅塞 → 增量套用路網</a:t>
            </a:r>
          </a:p>
          <a:p>
            <a:pPr>
              <a:spcBef>
                <a:spcPts val="800"/>
              </a:spcBef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Bef>
                <a:spcPts val="800"/>
              </a:spcBef>
              <a:defRPr sz="1900" b="0">
                <a:solidFill>
                  <a:srgbClr val="BBBBBB"/>
                </a:solidFill>
                <a:latin typeface="Microsoft JhengHei"/>
              </a:defRPr>
            </a:pPr>
            <a:r>
              <a:t>即時源：motc20/ETag ETagPairLive（門架配對即時車速，與訓練用 M05A 同格式，完美對接）</a:t>
            </a:r>
          </a:p>
          <a:p>
            <a:pPr>
              <a:spcBef>
                <a:spcPts val="800"/>
              </a:spcBef>
              <a:defRPr sz="1900" b="0">
                <a:solidFill>
                  <a:srgbClr val="BBBBBB"/>
                </a:solidFill>
                <a:latin typeface="Microsoft JhengHei"/>
              </a:defRPr>
            </a:pPr>
            <a:r>
              <a:t>冷啟動：一次抓過去 12 檔填滿視窗，立即可預測，不需枯等一小時</a:t>
            </a:r>
          </a:p>
          <a:p>
            <a:pPr>
              <a:spcBef>
                <a:spcPts val="800"/>
              </a:spcBef>
              <a:defRPr sz="1900" b="0">
                <a:solidFill>
                  <a:srgbClr val="BBBBBB"/>
                </a:solidFill>
                <a:latin typeface="Microsoft JhengHei"/>
              </a:defRPr>
            </a:pPr>
            <a:r>
              <a:t>只增不改：write_congestion_events 重播/即時共用；新增 /predict/live/start｜stop｜status</a:t>
            </a:r>
          </a:p>
          <a:p>
            <a:pPr>
              <a:spcBef>
                <a:spcPts val="800"/>
              </a:spcBef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88FF88"/>
                </a:solidFill>
                <a:latin typeface="Microsoft JhengHei"/>
              </a:defRPr>
            </a:pPr>
            <a:r>
              <a:t>實測（8/7 中午）：12/12 步全抓到、8 個預測壅塞、套用 128 條邊</a:t>
            </a:r>
          </a:p>
          <a:p>
            <a:pPr>
              <a:spcBef>
                <a:spcPts val="800"/>
              </a:spcBef>
              <a:defRPr sz="10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00AACC"/>
                </a:solidFill>
                <a:latin typeface="Microsoft JhengHei"/>
              </a:defRPr>
            </a:pPr>
            <a:r>
              <a:t>＋ 預測驗證 demo（/predict/demo）：選任一時間點，看模型預測 vs 實際車速散布圖</a:t>
            </a:r>
          </a:p>
          <a:p>
            <a:pPr>
              <a:spcBef>
                <a:spcPts val="800"/>
              </a:spcBef>
              <a:defRPr sz="1700" b="0">
                <a:solidFill>
                  <a:srgbClr val="BBBBBB"/>
                </a:solidFill>
                <a:latin typeface="Microsoft JhengHei"/>
              </a:defRPr>
            </a:pPr>
            <a:r>
              <a:t>  點越靠對角線＝預測越準，直接證明模型有效（不只講抽象 MAE）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6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結論與未來工作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0" y="94183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BBBBB"/>
                </a:solidFill>
                <a:latin typeface="Microsoft JhengHei"/>
              </a:defRPr>
            </a:pPr>
            <a:r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868680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Bef>
                <a:spcPts val="800"/>
              </a:spcBef>
              <a:defRPr sz="2600" b="1">
                <a:solidFill>
                  <a:srgbClr val="00AACC"/>
                </a:solidFill>
                <a:latin typeface="Microsoft JhengHei"/>
              </a:defRPr>
            </a:pPr>
            <a:r>
              <a:t>結論</a:t>
            </a:r>
          </a:p>
          <a:p>
            <a:pPr>
              <a:spcBef>
                <a:spcPts val="800"/>
              </a:spcBef>
              <a:defRPr sz="2000" b="0">
                <a:solidFill>
                  <a:srgbClr val="BBBBBB"/>
                </a:solidFill>
                <a:latin typeface="Microsoft JhengHei"/>
              </a:defRPr>
            </a:pPr>
            <a:r>
              <a:t>• 計畫書軟體方法全數實作並獲數據驗證</a:t>
            </a:r>
          </a:p>
          <a:p>
            <a:pPr>
              <a:spcBef>
                <a:spcPts val="800"/>
              </a:spcBef>
              <a:defRPr sz="2000" b="0">
                <a:solidFill>
                  <a:srgbClr val="BBBBBB"/>
                </a:solidFill>
                <a:latin typeface="Microsoft JhengHei"/>
              </a:defRPr>
            </a:pPr>
            <a:r>
              <a:t>• 增量傳播 + 直接相依：三個數量級節點更新削減</a:t>
            </a:r>
          </a:p>
          <a:p>
            <a:pPr>
              <a:spcBef>
                <a:spcPts val="800"/>
              </a:spcBef>
              <a:defRPr sz="2000" b="0">
                <a:solidFill>
                  <a:srgbClr val="BBBBBB"/>
                </a:solidFill>
                <a:latin typeface="Microsoft JhengHei"/>
              </a:defRPr>
            </a:pPr>
            <a:r>
              <a:t>• 稀疏優化論點成立，並找出適用邊界（~5%）</a:t>
            </a:r>
          </a:p>
          <a:p>
            <a:pPr>
              <a:spcBef>
                <a:spcPts val="800"/>
              </a:spcBef>
              <a:defRPr sz="2000" b="0">
                <a:solidFill>
                  <a:srgbClr val="BBBBBB"/>
                </a:solidFill>
                <a:latin typeface="Microsoft JhengHei"/>
              </a:defRPr>
            </a:pPr>
            <a:r>
              <a:t>• T-GCN 短時預測 MAE &lt; 2 km/h，整合回導航系統</a:t>
            </a:r>
          </a:p>
          <a:p>
            <a:pPr>
              <a:spcBef>
                <a:spcPts val="800"/>
              </a:spcBef>
              <a:defRPr sz="2000" b="0">
                <a:solidFill>
                  <a:srgbClr val="BBBBBB"/>
                </a:solidFill>
                <a:latin typeface="Microsoft JhengHei"/>
              </a:defRPr>
            </a:pPr>
            <a:r>
              <a:t>• 異常偵測 precision/recall 以真實事故驗證完成</a:t>
            </a:r>
          </a:p>
          <a:p>
            <a:pPr>
              <a:spcBef>
                <a:spcPts val="800"/>
              </a:spcBef>
              <a:defRPr sz="2000" b="1">
                <a:solidFill>
                  <a:srgbClr val="88FF88"/>
                </a:solidFill>
                <a:latin typeface="Microsoft JhengHei"/>
              </a:defRPr>
            </a:pPr>
            <a:r>
              <a:t>  → 計畫書 p.8 全部評估指標都有實測數據</a:t>
            </a:r>
          </a:p>
          <a:p>
            <a:pPr>
              <a:spcBef>
                <a:spcPts val="800"/>
              </a:spcBef>
              <a:defRPr sz="2000" b="1">
                <a:solidFill>
                  <a:srgbClr val="88FF88"/>
                </a:solidFill>
                <a:latin typeface="Microsoft JhengHei"/>
              </a:defRPr>
            </a:pPr>
            <a:r>
              <a:t>• 即時線上模式：接 ETag 即時車速，預測不再限於重播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0"/>
            <a:ext cx="731520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Bef>
                <a:spcPts val="800"/>
              </a:spcBef>
              <a:defRPr sz="2600" b="1">
                <a:solidFill>
                  <a:srgbClr val="00AACC"/>
                </a:solidFill>
                <a:latin typeface="Microsoft JhengHei"/>
              </a:defRPr>
            </a:pPr>
            <a:r>
              <a:t>未來工作</a:t>
            </a:r>
          </a:p>
          <a:p>
            <a:pPr>
              <a:spcBef>
                <a:spcPts val="800"/>
              </a:spcBef>
              <a:defRPr sz="2000" b="0">
                <a:solidFill>
                  <a:srgbClr val="BBBBBB"/>
                </a:solidFill>
                <a:latin typeface="Microsoft JhengHei"/>
              </a:defRPr>
            </a:pPr>
            <a:r>
              <a:t>1. DDA/DFA 硬體實作（Verilog/Modelsim）</a:t>
            </a:r>
          </a:p>
          <a:p>
            <a:pPr>
              <a:spcBef>
                <a:spcPts val="800"/>
              </a:spcBef>
              <a:defRPr sz="2000" b="0">
                <a:solidFill>
                  <a:srgbClr val="BBBBBB"/>
                </a:solidFill>
                <a:latin typeface="Microsoft JhengHei"/>
              </a:defRPr>
            </a:pPr>
            <a:r>
              <a:t>2. 市區 VD 路網擴展</a:t>
            </a:r>
          </a:p>
          <a:p>
            <a:pPr>
              <a:spcBef>
                <a:spcPts val="800"/>
              </a:spcBef>
              <a:defRPr sz="2000" b="0">
                <a:solidFill>
                  <a:srgbClr val="BBBBBB"/>
                </a:solidFill>
                <a:latin typeface="Microsoft JhengHei"/>
              </a:defRPr>
            </a:pPr>
            <a:r>
              <a:t>3. 方向性上游傳播（衰減曲線為依據）</a:t>
            </a:r>
          </a:p>
          <a:p>
            <a:pPr>
              <a:spcBef>
                <a:spcPts val="800"/>
              </a:spcBef>
              <a:defRPr sz="2000" b="0">
                <a:solidFill>
                  <a:srgbClr val="BBBBBB"/>
                </a:solidFill>
                <a:latin typeface="Microsoft JhengHei"/>
              </a:defRPr>
            </a:pPr>
            <a:r>
              <a:t>4. 全事件類型 ground truth 精細化 precision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3840480"/>
            <a:ext cx="1463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1A1A1A"/>
                </a:solidFill>
                <a:latin typeface="Microsoft JhengHei"/>
              </a:defRPr>
            </a:pPr>
            <a: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594360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  <a:latin typeface="Microsoft JhengHei"/>
              </a:defRPr>
            </a:pPr>
            <a:r>
              <a:t>重現指令與完整數據：gcn/REPORT.md 附錄 · gcn/results/*.json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0" y="94183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6666"/>
                </a:solidFill>
                <a:latin typeface="Microsoft JhengHei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